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0" roundtripDataSignature="AMtx7midKXsugzYuXgsxsG47BHLD85oj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A31934-CE62-4EDE-89C3-332C2A347640}">
  <a:tblStyle styleId="{23A31934-CE62-4EDE-89C3-332C2A34764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736ECA3-EA49-4B04-8A1A-CDBBCCDAEED6}"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e793c32c9_0_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g3ae793c32c9_0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7" name="Google Shape;22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5" name="Google Shape;23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3" name="Google Shape;24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1" name="Google Shape;25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9" name="Google Shape;25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7" name="Google Shape;26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5" name="Google Shape;27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5" name="Google Shape;28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3" name="Google Shape;29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1" name="Google Shape;30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9" name="Google Shape;30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5" name="Shape 15"/>
        <p:cNvGrpSpPr/>
        <p:nvPr/>
      </p:nvGrpSpPr>
      <p:grpSpPr>
        <a:xfrm>
          <a:off x="0" y="0"/>
          <a:ext cx="0" cy="0"/>
          <a:chOff x="0" y="0"/>
          <a:chExt cx="0" cy="0"/>
        </a:xfrm>
      </p:grpSpPr>
      <p:sp>
        <p:nvSpPr>
          <p:cNvPr id="16" name="Google Shape;16;p14"/>
          <p:cNvSpPr/>
          <p:nvPr/>
        </p:nvSpPr>
        <p:spPr>
          <a:xfrm>
            <a:off x="3759200" y="0"/>
            <a:ext cx="8432800" cy="685800"/>
          </a:xfrm>
          <a:prstGeom prst="rect">
            <a:avLst/>
          </a:prstGeom>
          <a:solidFill>
            <a:srgbClr val="205867"/>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B.Sc. Pre-Defense</a:t>
            </a:r>
            <a:endParaRPr b="1" i="0" sz="1800" u="none" cap="none" strike="noStrike">
              <a:solidFill>
                <a:schemeClr val="lt1"/>
              </a:solidFill>
              <a:latin typeface="Arial"/>
              <a:ea typeface="Arial"/>
              <a:cs typeface="Arial"/>
              <a:sym typeface="Arial"/>
            </a:endParaRPr>
          </a:p>
        </p:txBody>
      </p:sp>
      <p:pic>
        <p:nvPicPr>
          <p:cNvPr id="17" name="Google Shape;17;p14"/>
          <p:cNvPicPr preferRelativeResize="0"/>
          <p:nvPr/>
        </p:nvPicPr>
        <p:blipFill rotWithShape="1">
          <a:blip r:embed="rId2">
            <a:alphaModFix/>
          </a:blip>
          <a:srcRect b="0" l="0" r="0" t="0"/>
          <a:stretch/>
        </p:blipFill>
        <p:spPr>
          <a:xfrm>
            <a:off x="146051" y="76200"/>
            <a:ext cx="2444749" cy="685800"/>
          </a:xfrm>
          <a:prstGeom prst="rect">
            <a:avLst/>
          </a:prstGeom>
          <a:noFill/>
          <a:ln>
            <a:noFill/>
          </a:ln>
        </p:spPr>
      </p:pic>
      <p:sp>
        <p:nvSpPr>
          <p:cNvPr id="18" name="Google Shape;18;p14"/>
          <p:cNvSpPr/>
          <p:nvPr/>
        </p:nvSpPr>
        <p:spPr>
          <a:xfrm>
            <a:off x="3555999" y="3271960"/>
            <a:ext cx="5080000" cy="5334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Presented by</a:t>
            </a:r>
            <a:endParaRPr b="0" i="0" sz="1400" u="none" cap="none" strike="noStrike">
              <a:solidFill>
                <a:srgbClr val="000000"/>
              </a:solidFill>
              <a:latin typeface="Arial"/>
              <a:ea typeface="Arial"/>
              <a:cs typeface="Arial"/>
              <a:sym typeface="Arial"/>
            </a:endParaRPr>
          </a:p>
        </p:txBody>
      </p:sp>
      <p:sp>
        <p:nvSpPr>
          <p:cNvPr id="19" name="Google Shape;19;p14"/>
          <p:cNvSpPr txBox="1"/>
          <p:nvPr>
            <p:ph type="ctrTitle"/>
          </p:nvPr>
        </p:nvSpPr>
        <p:spPr>
          <a:xfrm>
            <a:off x="914400" y="1143000"/>
            <a:ext cx="10363200" cy="1752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17365D"/>
              </a:buClr>
              <a:buSzPts val="4400"/>
              <a:buFont typeface="Calibri"/>
              <a:buNone/>
              <a:defRPr b="1">
                <a:solidFill>
                  <a:srgbClr val="17365D"/>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 type="subTitle"/>
          </p:nvPr>
        </p:nvSpPr>
        <p:spPr>
          <a:xfrm>
            <a:off x="3102707" y="3959471"/>
            <a:ext cx="5986585" cy="22098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540"/>
              </a:spcBef>
              <a:spcAft>
                <a:spcPts val="0"/>
              </a:spcAft>
              <a:buClr>
                <a:srgbClr val="366092"/>
              </a:buClr>
              <a:buSzPts val="2700"/>
              <a:buNone/>
              <a:defRPr sz="2700">
                <a:solidFill>
                  <a:srgbClr val="366092"/>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1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4" name="Shape 24"/>
        <p:cNvGrpSpPr/>
        <p:nvPr/>
      </p:nvGrpSpPr>
      <p:grpSpPr>
        <a:xfrm>
          <a:off x="0" y="0"/>
          <a:ext cx="0" cy="0"/>
          <a:chOff x="0" y="0"/>
          <a:chExt cx="0" cy="0"/>
        </a:xfrm>
      </p:grpSpPr>
      <p:sp>
        <p:nvSpPr>
          <p:cNvPr id="25" name="Google Shape;25;p15"/>
          <p:cNvSpPr/>
          <p:nvPr/>
        </p:nvSpPr>
        <p:spPr>
          <a:xfrm>
            <a:off x="0" y="0"/>
            <a:ext cx="12192000" cy="228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 name="Google Shape;26;p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366092"/>
              </a:buClr>
              <a:buSzPts val="4400"/>
              <a:buFont typeface="Calibri"/>
              <a:buNone/>
              <a:defRPr b="1">
                <a:solidFill>
                  <a:srgbClr val="36609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366092"/>
              </a:buClr>
              <a:buSzPts val="3200"/>
              <a:buChar char="•"/>
              <a:defRPr>
                <a:solidFill>
                  <a:srgbClr val="366092"/>
                </a:solidFill>
              </a:defRPr>
            </a:lvl1pPr>
            <a:lvl2pPr indent="-406400" lvl="1" marL="914400" algn="l">
              <a:lnSpc>
                <a:spcPct val="100000"/>
              </a:lnSpc>
              <a:spcBef>
                <a:spcPts val="560"/>
              </a:spcBef>
              <a:spcAft>
                <a:spcPts val="0"/>
              </a:spcAft>
              <a:buClr>
                <a:srgbClr val="31859B"/>
              </a:buClr>
              <a:buSzPts val="2800"/>
              <a:buChar char="–"/>
              <a:defRPr>
                <a:solidFill>
                  <a:srgbClr val="31859B"/>
                </a:solidFill>
              </a:defRPr>
            </a:lvl2pPr>
            <a:lvl3pPr indent="-381000" lvl="2" marL="1371600" algn="l">
              <a:lnSpc>
                <a:spcPct val="100000"/>
              </a:lnSpc>
              <a:spcBef>
                <a:spcPts val="480"/>
              </a:spcBef>
              <a:spcAft>
                <a:spcPts val="0"/>
              </a:spcAft>
              <a:buClr>
                <a:srgbClr val="953734"/>
              </a:buClr>
              <a:buSzPts val="2400"/>
              <a:buChar char="•"/>
              <a:defRPr>
                <a:solidFill>
                  <a:srgbClr val="953734"/>
                </a:solidFill>
              </a:defRPr>
            </a:lvl3pPr>
            <a:lvl4pPr indent="-355600" lvl="3" marL="1828800" algn="l">
              <a:lnSpc>
                <a:spcPct val="100000"/>
              </a:lnSpc>
              <a:spcBef>
                <a:spcPts val="400"/>
              </a:spcBef>
              <a:spcAft>
                <a:spcPts val="0"/>
              </a:spcAft>
              <a:buClr>
                <a:srgbClr val="E36C09"/>
              </a:buClr>
              <a:buSzPts val="2000"/>
              <a:buChar char="–"/>
              <a:defRPr>
                <a:solidFill>
                  <a:srgbClr val="E36C09"/>
                </a:solidFill>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1" name="Google Shape;31;p15"/>
          <p:cNvPicPr preferRelativeResize="0"/>
          <p:nvPr/>
        </p:nvPicPr>
        <p:blipFill rotWithShape="1">
          <a:blip r:embed="rId2">
            <a:alphaModFix/>
          </a:blip>
          <a:srcRect b="0" l="0" r="0" t="0"/>
          <a:stretch/>
        </p:blipFill>
        <p:spPr>
          <a:xfrm>
            <a:off x="609600" y="6356351"/>
            <a:ext cx="1538817" cy="471487"/>
          </a:xfrm>
          <a:prstGeom prst="rect">
            <a:avLst/>
          </a:prstGeom>
          <a:noFill/>
          <a:ln>
            <a:noFill/>
          </a:ln>
        </p:spPr>
      </p:pic>
      <p:sp>
        <p:nvSpPr>
          <p:cNvPr id="32" name="Google Shape;32;p15"/>
          <p:cNvSpPr/>
          <p:nvPr/>
        </p:nvSpPr>
        <p:spPr>
          <a:xfrm>
            <a:off x="2336801" y="6356351"/>
            <a:ext cx="9842500" cy="465258"/>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B.Sc. Pre-Defense</a:t>
            </a:r>
            <a:endParaRPr b="1" i="0" sz="1800" u="none" cap="none" strike="noStrike">
              <a:solidFill>
                <a:schemeClr val="lt1"/>
              </a:solidFill>
              <a:latin typeface="Arial"/>
              <a:ea typeface="Arial"/>
              <a:cs typeface="Arial"/>
              <a:sym typeface="Arial"/>
            </a:endParaRPr>
          </a:p>
        </p:txBody>
      </p:sp>
      <p:sp>
        <p:nvSpPr>
          <p:cNvPr id="33" name="Google Shape;33;p15"/>
          <p:cNvSpPr/>
          <p:nvPr/>
        </p:nvSpPr>
        <p:spPr>
          <a:xfrm>
            <a:off x="0" y="0"/>
            <a:ext cx="12192000" cy="228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16"/>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6"/>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7" name="Google Shape;37;p1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1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 name="Google Shape;43;p1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18"/>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9" name="Google Shape;49;p1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2" name="Shape 52"/>
        <p:cNvGrpSpPr/>
        <p:nvPr/>
      </p:nvGrpSpPr>
      <p:grpSpPr>
        <a:xfrm>
          <a:off x="0" y="0"/>
          <a:ext cx="0" cy="0"/>
          <a:chOff x="0" y="0"/>
          <a:chExt cx="0" cy="0"/>
        </a:xfrm>
      </p:grpSpPr>
      <p:sp>
        <p:nvSpPr>
          <p:cNvPr id="53" name="Google Shape;53;p1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9"/>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5" name="Google Shape;55;p19"/>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6" name="Google Shape;56;p1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sp>
        <p:nvSpPr>
          <p:cNvPr id="60" name="Google Shape;60;p2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0"/>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2" name="Google Shape;62;p20"/>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3" name="Google Shape;63;p20"/>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4" name="Google Shape;64;p20"/>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5" name="Google Shape;65;p2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2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 name="Shape 73"/>
        <p:cNvGrpSpPr/>
        <p:nvPr/>
      </p:nvGrpSpPr>
      <p:grpSpPr>
        <a:xfrm>
          <a:off x="0" y="0"/>
          <a:ext cx="0" cy="0"/>
          <a:chOff x="0" y="0"/>
          <a:chExt cx="0" cy="0"/>
        </a:xfrm>
      </p:grpSpPr>
      <p:sp>
        <p:nvSpPr>
          <p:cNvPr id="74" name="Google Shape;74;p2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23"/>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3"/>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80" name="Google Shape;80;p23"/>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1" name="Google Shape;81;p2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4" name="Shape 84"/>
        <p:cNvGrpSpPr/>
        <p:nvPr/>
      </p:nvGrpSpPr>
      <p:grpSpPr>
        <a:xfrm>
          <a:off x="0" y="0"/>
          <a:ext cx="0" cy="0"/>
          <a:chOff x="0" y="0"/>
          <a:chExt cx="0" cy="0"/>
        </a:xfrm>
      </p:grpSpPr>
      <p:sp>
        <p:nvSpPr>
          <p:cNvPr id="85" name="Google Shape;85;p24"/>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4"/>
          <p:cNvSpPr/>
          <p:nvPr>
            <p:ph idx="2" type="pic"/>
          </p:nvPr>
        </p:nvSpPr>
        <p:spPr>
          <a:xfrm>
            <a:off x="2389717" y="612775"/>
            <a:ext cx="7315200" cy="4114800"/>
          </a:xfrm>
          <a:prstGeom prst="rect">
            <a:avLst/>
          </a:prstGeom>
          <a:noFill/>
          <a:ln>
            <a:noFill/>
          </a:ln>
        </p:spPr>
      </p:sp>
      <p:sp>
        <p:nvSpPr>
          <p:cNvPr id="87" name="Google Shape;87;p24"/>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8" name="Google Shape;88;p2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1" name="Shape 91"/>
        <p:cNvGrpSpPr/>
        <p:nvPr/>
      </p:nvGrpSpPr>
      <p:grpSpPr>
        <a:xfrm>
          <a:off x="0" y="0"/>
          <a:ext cx="0" cy="0"/>
          <a:chOff x="0" y="0"/>
          <a:chExt cx="0" cy="0"/>
        </a:xfrm>
      </p:grpSpPr>
      <p:sp>
        <p:nvSpPr>
          <p:cNvPr id="92" name="Google Shape;92;p2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5"/>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4" name="Google Shape;94;p2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7" name="Shape 97"/>
        <p:cNvGrpSpPr/>
        <p:nvPr/>
      </p:nvGrpSpPr>
      <p:grpSpPr>
        <a:xfrm>
          <a:off x="0" y="0"/>
          <a:ext cx="0" cy="0"/>
          <a:chOff x="0" y="0"/>
          <a:chExt cx="0" cy="0"/>
        </a:xfrm>
      </p:grpSpPr>
      <p:sp>
        <p:nvSpPr>
          <p:cNvPr id="98" name="Google Shape;98;p26"/>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6"/>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0" name="Google Shape;100;p2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03" name="Shape 103"/>
        <p:cNvGrpSpPr/>
        <p:nvPr/>
      </p:nvGrpSpPr>
      <p:grpSpPr>
        <a:xfrm>
          <a:off x="0" y="0"/>
          <a:ext cx="0" cy="0"/>
          <a:chOff x="0" y="0"/>
          <a:chExt cx="0" cy="0"/>
        </a:xfrm>
      </p:grpSpPr>
      <p:pic>
        <p:nvPicPr>
          <p:cNvPr id="104" name="Google Shape;104;p27"/>
          <p:cNvPicPr preferRelativeResize="0"/>
          <p:nvPr/>
        </p:nvPicPr>
        <p:blipFill rotWithShape="1">
          <a:blip r:embed="rId2">
            <a:alphaModFix/>
          </a:blip>
          <a:srcRect b="0" l="0" r="0" t="0"/>
          <a:stretch/>
        </p:blipFill>
        <p:spPr>
          <a:xfrm>
            <a:off x="304801" y="5943600"/>
            <a:ext cx="1538817" cy="304800"/>
          </a:xfrm>
          <a:prstGeom prst="rect">
            <a:avLst/>
          </a:prstGeom>
          <a:noFill/>
          <a:ln>
            <a:noFill/>
          </a:ln>
        </p:spPr>
      </p:pic>
      <p:sp>
        <p:nvSpPr>
          <p:cNvPr id="105" name="Google Shape;105;p27"/>
          <p:cNvSpPr/>
          <p:nvPr/>
        </p:nvSpPr>
        <p:spPr>
          <a:xfrm>
            <a:off x="2336801" y="5943600"/>
            <a:ext cx="9842500" cy="3810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Final Year Defense</a:t>
            </a:r>
            <a:endParaRPr b="1" i="0" sz="1800" u="none" cap="none" strike="noStrike">
              <a:solidFill>
                <a:schemeClr val="lt1"/>
              </a:solidFill>
              <a:latin typeface="Arial"/>
              <a:ea typeface="Arial"/>
              <a:cs typeface="Arial"/>
              <a:sym typeface="Arial"/>
            </a:endParaRPr>
          </a:p>
        </p:txBody>
      </p:sp>
      <p:sp>
        <p:nvSpPr>
          <p:cNvPr id="106" name="Google Shape;106;p27"/>
          <p:cNvSpPr/>
          <p:nvPr/>
        </p:nvSpPr>
        <p:spPr>
          <a:xfrm>
            <a:off x="0" y="0"/>
            <a:ext cx="12192000" cy="228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 name="Google Shape;107;p2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366092"/>
              </a:buClr>
              <a:buSzPts val="4400"/>
              <a:buFont typeface="Calibri"/>
              <a:buNone/>
              <a:defRPr b="1">
                <a:solidFill>
                  <a:srgbClr val="36609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7"/>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366092"/>
              </a:buClr>
              <a:buSzPts val="3200"/>
              <a:buChar char="•"/>
              <a:defRPr>
                <a:solidFill>
                  <a:srgbClr val="366092"/>
                </a:solidFill>
              </a:defRPr>
            </a:lvl1pPr>
            <a:lvl2pPr indent="-406400" lvl="1" marL="914400" algn="l">
              <a:lnSpc>
                <a:spcPct val="100000"/>
              </a:lnSpc>
              <a:spcBef>
                <a:spcPts val="560"/>
              </a:spcBef>
              <a:spcAft>
                <a:spcPts val="0"/>
              </a:spcAft>
              <a:buClr>
                <a:srgbClr val="31859B"/>
              </a:buClr>
              <a:buSzPts val="2800"/>
              <a:buChar char="–"/>
              <a:defRPr>
                <a:solidFill>
                  <a:srgbClr val="31859B"/>
                </a:solidFill>
              </a:defRPr>
            </a:lvl2pPr>
            <a:lvl3pPr indent="-381000" lvl="2" marL="1371600" algn="l">
              <a:lnSpc>
                <a:spcPct val="100000"/>
              </a:lnSpc>
              <a:spcBef>
                <a:spcPts val="480"/>
              </a:spcBef>
              <a:spcAft>
                <a:spcPts val="0"/>
              </a:spcAft>
              <a:buClr>
                <a:srgbClr val="953734"/>
              </a:buClr>
              <a:buSzPts val="2400"/>
              <a:buChar char="•"/>
              <a:defRPr>
                <a:solidFill>
                  <a:srgbClr val="953734"/>
                </a:solidFill>
              </a:defRPr>
            </a:lvl3pPr>
            <a:lvl4pPr indent="-355600" lvl="3" marL="1828800" algn="l">
              <a:lnSpc>
                <a:spcPct val="100000"/>
              </a:lnSpc>
              <a:spcBef>
                <a:spcPts val="400"/>
              </a:spcBef>
              <a:spcAft>
                <a:spcPts val="0"/>
              </a:spcAft>
              <a:buClr>
                <a:srgbClr val="E36C09"/>
              </a:buClr>
              <a:buSzPts val="2000"/>
              <a:buChar char="–"/>
              <a:defRPr>
                <a:solidFill>
                  <a:srgbClr val="E36C09"/>
                </a:solidFill>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9" name="Google Shape;109;p2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18" name="Shape 118"/>
        <p:cNvGrpSpPr/>
        <p:nvPr/>
      </p:nvGrpSpPr>
      <p:grpSpPr>
        <a:xfrm>
          <a:off x="0" y="0"/>
          <a:ext cx="0" cy="0"/>
          <a:chOff x="0" y="0"/>
          <a:chExt cx="0" cy="0"/>
        </a:xfrm>
      </p:grpSpPr>
      <p:sp>
        <p:nvSpPr>
          <p:cNvPr id="119" name="Google Shape;119;g3ae793c32c9_0_158"/>
          <p:cNvSpPr/>
          <p:nvPr/>
        </p:nvSpPr>
        <p:spPr>
          <a:xfrm>
            <a:off x="3759200" y="0"/>
            <a:ext cx="8432700" cy="685800"/>
          </a:xfrm>
          <a:prstGeom prst="rect">
            <a:avLst/>
          </a:prstGeom>
          <a:solidFill>
            <a:srgbClr val="205867"/>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i="0" lang="en-US" sz="2000" u="none" cap="none" strike="noStrike">
                <a:solidFill>
                  <a:schemeClr val="lt1"/>
                </a:solidFill>
                <a:latin typeface="Arial"/>
                <a:ea typeface="Arial"/>
                <a:cs typeface="Arial"/>
                <a:sym typeface="Arial"/>
              </a:rPr>
              <a:t>Phase-I Evaluation</a:t>
            </a:r>
            <a:endParaRPr b="1" i="0" sz="1800" u="none" cap="none" strike="noStrike">
              <a:solidFill>
                <a:schemeClr val="lt1"/>
              </a:solidFill>
              <a:latin typeface="Arial"/>
              <a:ea typeface="Arial"/>
              <a:cs typeface="Arial"/>
              <a:sym typeface="Arial"/>
            </a:endParaRPr>
          </a:p>
        </p:txBody>
      </p:sp>
      <p:pic>
        <p:nvPicPr>
          <p:cNvPr id="120" name="Google Shape;120;g3ae793c32c9_0_158"/>
          <p:cNvPicPr preferRelativeResize="0"/>
          <p:nvPr/>
        </p:nvPicPr>
        <p:blipFill rotWithShape="1">
          <a:blip r:embed="rId2">
            <a:alphaModFix/>
          </a:blip>
          <a:srcRect b="0" l="0" r="0" t="0"/>
          <a:stretch/>
        </p:blipFill>
        <p:spPr>
          <a:xfrm>
            <a:off x="146051" y="76200"/>
            <a:ext cx="2444749" cy="685800"/>
          </a:xfrm>
          <a:prstGeom prst="rect">
            <a:avLst/>
          </a:prstGeom>
          <a:noFill/>
          <a:ln>
            <a:noFill/>
          </a:ln>
        </p:spPr>
      </p:pic>
      <p:sp>
        <p:nvSpPr>
          <p:cNvPr id="121" name="Google Shape;121;g3ae793c32c9_0_158"/>
          <p:cNvSpPr/>
          <p:nvPr/>
        </p:nvSpPr>
        <p:spPr>
          <a:xfrm>
            <a:off x="914400" y="3200400"/>
            <a:ext cx="5079900" cy="5334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lt1"/>
                </a:solidFill>
                <a:latin typeface="Arial"/>
                <a:ea typeface="Arial"/>
                <a:cs typeface="Arial"/>
                <a:sym typeface="Arial"/>
              </a:rPr>
              <a:t>Presented by</a:t>
            </a:r>
            <a:endParaRPr/>
          </a:p>
        </p:txBody>
      </p:sp>
      <p:sp>
        <p:nvSpPr>
          <p:cNvPr id="122" name="Google Shape;122;g3ae793c32c9_0_158"/>
          <p:cNvSpPr/>
          <p:nvPr/>
        </p:nvSpPr>
        <p:spPr>
          <a:xfrm>
            <a:off x="6400800" y="3200400"/>
            <a:ext cx="5283300" cy="5334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lt1"/>
                </a:solidFill>
                <a:latin typeface="Arial"/>
                <a:ea typeface="Arial"/>
                <a:cs typeface="Arial"/>
                <a:sym typeface="Arial"/>
              </a:rPr>
              <a:t>Supervised by</a:t>
            </a:r>
            <a:endParaRPr/>
          </a:p>
        </p:txBody>
      </p:sp>
      <p:sp>
        <p:nvSpPr>
          <p:cNvPr id="123" name="Google Shape;123;g3ae793c32c9_0_158"/>
          <p:cNvSpPr txBox="1"/>
          <p:nvPr>
            <p:ph type="ctrTitle"/>
          </p:nvPr>
        </p:nvSpPr>
        <p:spPr>
          <a:xfrm>
            <a:off x="914400" y="1143000"/>
            <a:ext cx="10363200" cy="1752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17365D"/>
              </a:buClr>
              <a:buSzPts val="4400"/>
              <a:buFont typeface="Calibri"/>
              <a:buNone/>
              <a:defRPr b="1">
                <a:solidFill>
                  <a:srgbClr val="17365D"/>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g3ae793c32c9_0_158"/>
          <p:cNvSpPr txBox="1"/>
          <p:nvPr>
            <p:ph idx="1" type="subTitle"/>
          </p:nvPr>
        </p:nvSpPr>
        <p:spPr>
          <a:xfrm>
            <a:off x="914400" y="3886200"/>
            <a:ext cx="5181600" cy="2209800"/>
          </a:xfrm>
          <a:prstGeom prst="rect">
            <a:avLst/>
          </a:prstGeom>
          <a:noFill/>
          <a:ln>
            <a:noFill/>
          </a:ln>
        </p:spPr>
        <p:txBody>
          <a:bodyPr anchorCtr="0" anchor="t" bIns="45700" lIns="91425" spcFirstLastPara="1" rIns="91425" wrap="square" tIns="45700">
            <a:normAutofit/>
          </a:bodyPr>
          <a:lstStyle>
            <a:lvl1pPr lvl="0" algn="ctr">
              <a:spcBef>
                <a:spcPts val="540"/>
              </a:spcBef>
              <a:spcAft>
                <a:spcPts val="0"/>
              </a:spcAft>
              <a:buClr>
                <a:srgbClr val="366092"/>
              </a:buClr>
              <a:buSzPts val="2700"/>
              <a:buNone/>
              <a:defRPr sz="2700">
                <a:solidFill>
                  <a:srgbClr val="366092"/>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25" name="Google Shape;125;g3ae793c32c9_0_158"/>
          <p:cNvSpPr txBox="1"/>
          <p:nvPr>
            <p:ph idx="2" type="body"/>
          </p:nvPr>
        </p:nvSpPr>
        <p:spPr>
          <a:xfrm>
            <a:off x="6400800" y="3886200"/>
            <a:ext cx="5283300" cy="2209800"/>
          </a:xfrm>
          <a:prstGeom prst="rect">
            <a:avLst/>
          </a:prstGeom>
          <a:noFill/>
          <a:ln>
            <a:noFill/>
          </a:ln>
        </p:spPr>
        <p:txBody>
          <a:bodyPr anchorCtr="0" anchor="t" bIns="45700" lIns="91425" spcFirstLastPara="1" rIns="91425" wrap="square" tIns="45700">
            <a:normAutofit/>
          </a:bodyPr>
          <a:lstStyle>
            <a:lvl1pPr indent="-228600" lvl="0" marL="457200" algn="ctr">
              <a:spcBef>
                <a:spcPts val="540"/>
              </a:spcBef>
              <a:spcAft>
                <a:spcPts val="0"/>
              </a:spcAft>
              <a:buClr>
                <a:srgbClr val="0070C0"/>
              </a:buClr>
              <a:buSzPts val="2700"/>
              <a:buNone/>
              <a:defRPr sz="2700">
                <a:solidFill>
                  <a:srgbClr val="0070C0"/>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6" name="Google Shape;126;g3ae793c32c9_0_158"/>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g3ae793c32c9_0_158"/>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g3ae793c32c9_0_158"/>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29" name="Shape 129"/>
        <p:cNvGrpSpPr/>
        <p:nvPr/>
      </p:nvGrpSpPr>
      <p:grpSpPr>
        <a:xfrm>
          <a:off x="0" y="0"/>
          <a:ext cx="0" cy="0"/>
          <a:chOff x="0" y="0"/>
          <a:chExt cx="0" cy="0"/>
        </a:xfrm>
      </p:grpSpPr>
      <p:sp>
        <p:nvSpPr>
          <p:cNvPr id="130" name="Google Shape;130;g3ae793c32c9_0_169"/>
          <p:cNvSpPr/>
          <p:nvPr/>
        </p:nvSpPr>
        <p:spPr>
          <a:xfrm>
            <a:off x="0" y="0"/>
            <a:ext cx="12192000" cy="228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1" name="Google Shape;131;g3ae793c32c9_0_16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366092"/>
              </a:buClr>
              <a:buSzPts val="4400"/>
              <a:buFont typeface="Calibri"/>
              <a:buNone/>
              <a:defRPr b="1">
                <a:solidFill>
                  <a:srgbClr val="36609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g3ae793c32c9_0_169"/>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366092"/>
              </a:buClr>
              <a:buSzPts val="3200"/>
              <a:buChar char="•"/>
              <a:defRPr>
                <a:solidFill>
                  <a:srgbClr val="366092"/>
                </a:solidFill>
              </a:defRPr>
            </a:lvl1pPr>
            <a:lvl2pPr indent="-406400" lvl="1" marL="914400" algn="l">
              <a:spcBef>
                <a:spcPts val="560"/>
              </a:spcBef>
              <a:spcAft>
                <a:spcPts val="0"/>
              </a:spcAft>
              <a:buClr>
                <a:srgbClr val="31859B"/>
              </a:buClr>
              <a:buSzPts val="2800"/>
              <a:buChar char="–"/>
              <a:defRPr>
                <a:solidFill>
                  <a:srgbClr val="31859B"/>
                </a:solidFill>
              </a:defRPr>
            </a:lvl2pPr>
            <a:lvl3pPr indent="-381000" lvl="2" marL="1371600" algn="l">
              <a:spcBef>
                <a:spcPts val="480"/>
              </a:spcBef>
              <a:spcAft>
                <a:spcPts val="0"/>
              </a:spcAft>
              <a:buClr>
                <a:srgbClr val="953734"/>
              </a:buClr>
              <a:buSzPts val="2400"/>
              <a:buChar char="•"/>
              <a:defRPr>
                <a:solidFill>
                  <a:srgbClr val="953734"/>
                </a:solidFill>
              </a:defRPr>
            </a:lvl3pPr>
            <a:lvl4pPr indent="-355600" lvl="3" marL="1828800" algn="l">
              <a:spcBef>
                <a:spcPts val="400"/>
              </a:spcBef>
              <a:spcAft>
                <a:spcPts val="0"/>
              </a:spcAft>
              <a:buClr>
                <a:srgbClr val="E36C09"/>
              </a:buClr>
              <a:buSzPts val="2000"/>
              <a:buChar char="–"/>
              <a:defRPr>
                <a:solidFill>
                  <a:srgbClr val="E36C09"/>
                </a:solidFill>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3" name="Google Shape;133;g3ae793c32c9_0_169"/>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g3ae793c32c9_0_169"/>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g3ae793c32c9_0_169"/>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36" name="Google Shape;136;g3ae793c32c9_0_169"/>
          <p:cNvPicPr preferRelativeResize="0"/>
          <p:nvPr/>
        </p:nvPicPr>
        <p:blipFill rotWithShape="1">
          <a:blip r:embed="rId2">
            <a:alphaModFix/>
          </a:blip>
          <a:srcRect b="0" l="0" r="0" t="0"/>
          <a:stretch/>
        </p:blipFill>
        <p:spPr>
          <a:xfrm>
            <a:off x="609600" y="6356351"/>
            <a:ext cx="1538819" cy="471486"/>
          </a:xfrm>
          <a:prstGeom prst="rect">
            <a:avLst/>
          </a:prstGeom>
          <a:noFill/>
          <a:ln>
            <a:noFill/>
          </a:ln>
        </p:spPr>
      </p:pic>
      <p:sp>
        <p:nvSpPr>
          <p:cNvPr id="137" name="Google Shape;137;g3ae793c32c9_0_169"/>
          <p:cNvSpPr/>
          <p:nvPr/>
        </p:nvSpPr>
        <p:spPr>
          <a:xfrm>
            <a:off x="2336801" y="6356351"/>
            <a:ext cx="9842400" cy="4653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i="0" lang="en-US" sz="2000" u="none" cap="none" strike="noStrike">
                <a:solidFill>
                  <a:schemeClr val="lt1"/>
                </a:solidFill>
                <a:latin typeface="Arial"/>
                <a:ea typeface="Arial"/>
                <a:cs typeface="Arial"/>
                <a:sym typeface="Arial"/>
              </a:rPr>
              <a:t>B.Sc. Pre-Defense</a:t>
            </a:r>
            <a:endParaRPr b="1" i="0" sz="1800" u="none" cap="none" strike="noStrike">
              <a:solidFill>
                <a:schemeClr val="lt1"/>
              </a:solidFill>
              <a:latin typeface="Arial"/>
              <a:ea typeface="Arial"/>
              <a:cs typeface="Arial"/>
              <a:sym typeface="Arial"/>
            </a:endParaRPr>
          </a:p>
        </p:txBody>
      </p:sp>
      <p:sp>
        <p:nvSpPr>
          <p:cNvPr id="138" name="Google Shape;138;g3ae793c32c9_0_169"/>
          <p:cNvSpPr/>
          <p:nvPr/>
        </p:nvSpPr>
        <p:spPr>
          <a:xfrm>
            <a:off x="0" y="0"/>
            <a:ext cx="12192000" cy="228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9" name="Shape 139"/>
        <p:cNvGrpSpPr/>
        <p:nvPr/>
      </p:nvGrpSpPr>
      <p:grpSpPr>
        <a:xfrm>
          <a:off x="0" y="0"/>
          <a:ext cx="0" cy="0"/>
          <a:chOff x="0" y="0"/>
          <a:chExt cx="0" cy="0"/>
        </a:xfrm>
      </p:grpSpPr>
      <p:sp>
        <p:nvSpPr>
          <p:cNvPr id="140" name="Google Shape;140;g3ae793c32c9_0_17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g3ae793c32c9_0_179"/>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2" name="Google Shape;142;g3ae793c32c9_0_179"/>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g3ae793c32c9_0_179"/>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g3ae793c32c9_0_179"/>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5" name="Shape 145"/>
        <p:cNvGrpSpPr/>
        <p:nvPr/>
      </p:nvGrpSpPr>
      <p:grpSpPr>
        <a:xfrm>
          <a:off x="0" y="0"/>
          <a:ext cx="0" cy="0"/>
          <a:chOff x="0" y="0"/>
          <a:chExt cx="0" cy="0"/>
        </a:xfrm>
      </p:grpSpPr>
      <p:sp>
        <p:nvSpPr>
          <p:cNvPr id="146" name="Google Shape;146;g3ae793c32c9_0_185"/>
          <p:cNvSpPr txBox="1"/>
          <p:nvPr>
            <p:ph type="ctrTitle"/>
          </p:nvPr>
        </p:nvSpPr>
        <p:spPr>
          <a:xfrm>
            <a:off x="914400" y="2130426"/>
            <a:ext cx="103632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g3ae793c32c9_0_185"/>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8" name="Google Shape;148;g3ae793c32c9_0_185"/>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g3ae793c32c9_0_185"/>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g3ae793c32c9_0_185"/>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g3ae793c32c9_0_191"/>
          <p:cNvSpPr txBox="1"/>
          <p:nvPr>
            <p:ph type="title"/>
          </p:nvPr>
        </p:nvSpPr>
        <p:spPr>
          <a:xfrm>
            <a:off x="963084" y="4406901"/>
            <a:ext cx="103632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g3ae793c32c9_0_191"/>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54" name="Google Shape;154;g3ae793c32c9_0_191"/>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g3ae793c32c9_0_191"/>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g3ae793c32c9_0_191"/>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7" name="Shape 157"/>
        <p:cNvGrpSpPr/>
        <p:nvPr/>
      </p:nvGrpSpPr>
      <p:grpSpPr>
        <a:xfrm>
          <a:off x="0" y="0"/>
          <a:ext cx="0" cy="0"/>
          <a:chOff x="0" y="0"/>
          <a:chExt cx="0" cy="0"/>
        </a:xfrm>
      </p:grpSpPr>
      <p:sp>
        <p:nvSpPr>
          <p:cNvPr id="158" name="Google Shape;158;g3ae793c32c9_0_19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g3ae793c32c9_0_197"/>
          <p:cNvSpPr txBox="1"/>
          <p:nvPr>
            <p:ph idx="1" type="body"/>
          </p:nvPr>
        </p:nvSpPr>
        <p:spPr>
          <a:xfrm>
            <a:off x="609600" y="1600201"/>
            <a:ext cx="53847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60" name="Google Shape;160;g3ae793c32c9_0_197"/>
          <p:cNvSpPr txBox="1"/>
          <p:nvPr>
            <p:ph idx="2" type="body"/>
          </p:nvPr>
        </p:nvSpPr>
        <p:spPr>
          <a:xfrm>
            <a:off x="6197600" y="1600201"/>
            <a:ext cx="53847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61" name="Google Shape;161;g3ae793c32c9_0_197"/>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g3ae793c32c9_0_197"/>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g3ae793c32c9_0_197"/>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4" name="Shape 164"/>
        <p:cNvGrpSpPr/>
        <p:nvPr/>
      </p:nvGrpSpPr>
      <p:grpSpPr>
        <a:xfrm>
          <a:off x="0" y="0"/>
          <a:ext cx="0" cy="0"/>
          <a:chOff x="0" y="0"/>
          <a:chExt cx="0" cy="0"/>
        </a:xfrm>
      </p:grpSpPr>
      <p:sp>
        <p:nvSpPr>
          <p:cNvPr id="165" name="Google Shape;165;g3ae793c32c9_0_20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g3ae793c32c9_0_204"/>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67" name="Google Shape;167;g3ae793c32c9_0_204"/>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68" name="Google Shape;168;g3ae793c32c9_0_204"/>
          <p:cNvSpPr txBox="1"/>
          <p:nvPr>
            <p:ph idx="3" type="body"/>
          </p:nvPr>
        </p:nvSpPr>
        <p:spPr>
          <a:xfrm>
            <a:off x="6193368"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69" name="Google Shape;169;g3ae793c32c9_0_204"/>
          <p:cNvSpPr txBox="1"/>
          <p:nvPr>
            <p:ph idx="4" type="body"/>
          </p:nvPr>
        </p:nvSpPr>
        <p:spPr>
          <a:xfrm>
            <a:off x="6193368"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70" name="Google Shape;170;g3ae793c32c9_0_204"/>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g3ae793c32c9_0_204"/>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g3ae793c32c9_0_204"/>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3" name="Shape 173"/>
        <p:cNvGrpSpPr/>
        <p:nvPr/>
      </p:nvGrpSpPr>
      <p:grpSpPr>
        <a:xfrm>
          <a:off x="0" y="0"/>
          <a:ext cx="0" cy="0"/>
          <a:chOff x="0" y="0"/>
          <a:chExt cx="0" cy="0"/>
        </a:xfrm>
      </p:grpSpPr>
      <p:sp>
        <p:nvSpPr>
          <p:cNvPr id="174" name="Google Shape;174;g3ae793c32c9_0_2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g3ae793c32c9_0_213"/>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g3ae793c32c9_0_213"/>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g3ae793c32c9_0_213"/>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8" name="Shape 178"/>
        <p:cNvGrpSpPr/>
        <p:nvPr/>
      </p:nvGrpSpPr>
      <p:grpSpPr>
        <a:xfrm>
          <a:off x="0" y="0"/>
          <a:ext cx="0" cy="0"/>
          <a:chOff x="0" y="0"/>
          <a:chExt cx="0" cy="0"/>
        </a:xfrm>
      </p:grpSpPr>
      <p:sp>
        <p:nvSpPr>
          <p:cNvPr id="179" name="Google Shape;179;g3ae793c32c9_0_218"/>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g3ae793c32c9_0_218"/>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g3ae793c32c9_0_218"/>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2" name="Shape 182"/>
        <p:cNvGrpSpPr/>
        <p:nvPr/>
      </p:nvGrpSpPr>
      <p:grpSpPr>
        <a:xfrm>
          <a:off x="0" y="0"/>
          <a:ext cx="0" cy="0"/>
          <a:chOff x="0" y="0"/>
          <a:chExt cx="0" cy="0"/>
        </a:xfrm>
      </p:grpSpPr>
      <p:sp>
        <p:nvSpPr>
          <p:cNvPr id="183" name="Google Shape;183;g3ae793c32c9_0_222"/>
          <p:cNvSpPr txBox="1"/>
          <p:nvPr>
            <p:ph type="title"/>
          </p:nvPr>
        </p:nvSpPr>
        <p:spPr>
          <a:xfrm>
            <a:off x="609601" y="273050"/>
            <a:ext cx="40110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g3ae793c32c9_0_222"/>
          <p:cNvSpPr txBox="1"/>
          <p:nvPr>
            <p:ph idx="1" type="body"/>
          </p:nvPr>
        </p:nvSpPr>
        <p:spPr>
          <a:xfrm>
            <a:off x="4766733" y="273051"/>
            <a:ext cx="6815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85" name="Google Shape;185;g3ae793c32c9_0_222"/>
          <p:cNvSpPr txBox="1"/>
          <p:nvPr>
            <p:ph idx="2" type="body"/>
          </p:nvPr>
        </p:nvSpPr>
        <p:spPr>
          <a:xfrm>
            <a:off x="609601" y="1435101"/>
            <a:ext cx="40110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86" name="Google Shape;186;g3ae793c32c9_0_222"/>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g3ae793c32c9_0_222"/>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g3ae793c32c9_0_222"/>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9" name="Shape 189"/>
        <p:cNvGrpSpPr/>
        <p:nvPr/>
      </p:nvGrpSpPr>
      <p:grpSpPr>
        <a:xfrm>
          <a:off x="0" y="0"/>
          <a:ext cx="0" cy="0"/>
          <a:chOff x="0" y="0"/>
          <a:chExt cx="0" cy="0"/>
        </a:xfrm>
      </p:grpSpPr>
      <p:sp>
        <p:nvSpPr>
          <p:cNvPr id="190" name="Google Shape;190;g3ae793c32c9_0_229"/>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g3ae793c32c9_0_229"/>
          <p:cNvSpPr/>
          <p:nvPr>
            <p:ph idx="2" type="pic"/>
          </p:nvPr>
        </p:nvSpPr>
        <p:spPr>
          <a:xfrm>
            <a:off x="2389717" y="612775"/>
            <a:ext cx="7315200" cy="4114800"/>
          </a:xfrm>
          <a:prstGeom prst="rect">
            <a:avLst/>
          </a:prstGeom>
          <a:noFill/>
          <a:ln>
            <a:noFill/>
          </a:ln>
        </p:spPr>
      </p:sp>
      <p:sp>
        <p:nvSpPr>
          <p:cNvPr id="192" name="Google Shape;192;g3ae793c32c9_0_229"/>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93" name="Google Shape;193;g3ae793c32c9_0_229"/>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g3ae793c32c9_0_229"/>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g3ae793c32c9_0_229"/>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6" name="Shape 196"/>
        <p:cNvGrpSpPr/>
        <p:nvPr/>
      </p:nvGrpSpPr>
      <p:grpSpPr>
        <a:xfrm>
          <a:off x="0" y="0"/>
          <a:ext cx="0" cy="0"/>
          <a:chOff x="0" y="0"/>
          <a:chExt cx="0" cy="0"/>
        </a:xfrm>
      </p:grpSpPr>
      <p:sp>
        <p:nvSpPr>
          <p:cNvPr id="197" name="Google Shape;197;g3ae793c32c9_0_23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g3ae793c32c9_0_236"/>
          <p:cNvSpPr txBox="1"/>
          <p:nvPr>
            <p:ph idx="1" type="body"/>
          </p:nvPr>
        </p:nvSpPr>
        <p:spPr>
          <a:xfrm rot="5400000">
            <a:off x="3832950" y="-1623149"/>
            <a:ext cx="4526100"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9" name="Google Shape;199;g3ae793c32c9_0_236"/>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g3ae793c32c9_0_236"/>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g3ae793c32c9_0_236"/>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2" name="Shape 202"/>
        <p:cNvGrpSpPr/>
        <p:nvPr/>
      </p:nvGrpSpPr>
      <p:grpSpPr>
        <a:xfrm>
          <a:off x="0" y="0"/>
          <a:ext cx="0" cy="0"/>
          <a:chOff x="0" y="0"/>
          <a:chExt cx="0" cy="0"/>
        </a:xfrm>
      </p:grpSpPr>
      <p:sp>
        <p:nvSpPr>
          <p:cNvPr id="203" name="Google Shape;203;g3ae793c32c9_0_242"/>
          <p:cNvSpPr txBox="1"/>
          <p:nvPr>
            <p:ph type="title"/>
          </p:nvPr>
        </p:nvSpPr>
        <p:spPr>
          <a:xfrm rot="5400000">
            <a:off x="7285050" y="1828789"/>
            <a:ext cx="5851500"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g3ae793c32c9_0_242"/>
          <p:cNvSpPr txBox="1"/>
          <p:nvPr>
            <p:ph idx="1" type="body"/>
          </p:nvPr>
        </p:nvSpPr>
        <p:spPr>
          <a:xfrm rot="5400000">
            <a:off x="1697000" y="-812861"/>
            <a:ext cx="5851500" cy="8026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5" name="Google Shape;205;g3ae793c32c9_0_242"/>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g3ae793c32c9_0_242"/>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g3ae793c32c9_0_242"/>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08" name="Shape 208"/>
        <p:cNvGrpSpPr/>
        <p:nvPr/>
      </p:nvGrpSpPr>
      <p:grpSpPr>
        <a:xfrm>
          <a:off x="0" y="0"/>
          <a:ext cx="0" cy="0"/>
          <a:chOff x="0" y="0"/>
          <a:chExt cx="0" cy="0"/>
        </a:xfrm>
      </p:grpSpPr>
      <p:pic>
        <p:nvPicPr>
          <p:cNvPr id="209" name="Google Shape;209;g3ae793c32c9_0_248"/>
          <p:cNvPicPr preferRelativeResize="0"/>
          <p:nvPr/>
        </p:nvPicPr>
        <p:blipFill rotWithShape="1">
          <a:blip r:embed="rId2">
            <a:alphaModFix/>
          </a:blip>
          <a:srcRect b="0" l="0" r="0" t="0"/>
          <a:stretch/>
        </p:blipFill>
        <p:spPr>
          <a:xfrm>
            <a:off x="304801" y="5943600"/>
            <a:ext cx="1538819" cy="304801"/>
          </a:xfrm>
          <a:prstGeom prst="rect">
            <a:avLst/>
          </a:prstGeom>
          <a:noFill/>
          <a:ln>
            <a:noFill/>
          </a:ln>
        </p:spPr>
      </p:pic>
      <p:sp>
        <p:nvSpPr>
          <p:cNvPr id="210" name="Google Shape;210;g3ae793c32c9_0_248"/>
          <p:cNvSpPr/>
          <p:nvPr/>
        </p:nvSpPr>
        <p:spPr>
          <a:xfrm>
            <a:off x="2336801" y="5943600"/>
            <a:ext cx="9842400" cy="3810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en-US" sz="2000">
                <a:solidFill>
                  <a:schemeClr val="lt1"/>
                </a:solidFill>
                <a:latin typeface="Arial"/>
                <a:ea typeface="Arial"/>
                <a:cs typeface="Arial"/>
                <a:sym typeface="Arial"/>
              </a:rPr>
              <a:t>Final Year Defense</a:t>
            </a:r>
            <a:endParaRPr b="1" sz="1800">
              <a:solidFill>
                <a:schemeClr val="lt1"/>
              </a:solidFill>
              <a:latin typeface="Arial"/>
              <a:ea typeface="Arial"/>
              <a:cs typeface="Arial"/>
              <a:sym typeface="Arial"/>
            </a:endParaRPr>
          </a:p>
        </p:txBody>
      </p:sp>
      <p:sp>
        <p:nvSpPr>
          <p:cNvPr id="211" name="Google Shape;211;g3ae793c32c9_0_248"/>
          <p:cNvSpPr/>
          <p:nvPr/>
        </p:nvSpPr>
        <p:spPr>
          <a:xfrm>
            <a:off x="0" y="0"/>
            <a:ext cx="12192000" cy="228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g3ae793c32c9_0_24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366092"/>
              </a:buClr>
              <a:buSzPts val="4400"/>
              <a:buFont typeface="Calibri"/>
              <a:buNone/>
              <a:defRPr b="1">
                <a:solidFill>
                  <a:srgbClr val="36609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g3ae793c32c9_0_248"/>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366092"/>
              </a:buClr>
              <a:buSzPts val="3200"/>
              <a:buChar char="•"/>
              <a:defRPr>
                <a:solidFill>
                  <a:srgbClr val="366092"/>
                </a:solidFill>
              </a:defRPr>
            </a:lvl1pPr>
            <a:lvl2pPr indent="-406400" lvl="1" marL="914400" algn="l">
              <a:spcBef>
                <a:spcPts val="560"/>
              </a:spcBef>
              <a:spcAft>
                <a:spcPts val="0"/>
              </a:spcAft>
              <a:buClr>
                <a:srgbClr val="31859B"/>
              </a:buClr>
              <a:buSzPts val="2800"/>
              <a:buChar char="–"/>
              <a:defRPr>
                <a:solidFill>
                  <a:srgbClr val="31859B"/>
                </a:solidFill>
              </a:defRPr>
            </a:lvl2pPr>
            <a:lvl3pPr indent="-381000" lvl="2" marL="1371600" algn="l">
              <a:spcBef>
                <a:spcPts val="480"/>
              </a:spcBef>
              <a:spcAft>
                <a:spcPts val="0"/>
              </a:spcAft>
              <a:buClr>
                <a:srgbClr val="953734"/>
              </a:buClr>
              <a:buSzPts val="2400"/>
              <a:buChar char="•"/>
              <a:defRPr>
                <a:solidFill>
                  <a:srgbClr val="953734"/>
                </a:solidFill>
              </a:defRPr>
            </a:lvl3pPr>
            <a:lvl4pPr indent="-355600" lvl="3" marL="1828800" algn="l">
              <a:spcBef>
                <a:spcPts val="400"/>
              </a:spcBef>
              <a:spcAft>
                <a:spcPts val="0"/>
              </a:spcAft>
              <a:buClr>
                <a:srgbClr val="E36C09"/>
              </a:buClr>
              <a:buSzPts val="2000"/>
              <a:buChar char="–"/>
              <a:defRPr>
                <a:solidFill>
                  <a:srgbClr val="E36C09"/>
                </a:solidFill>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4" name="Google Shape;214;g3ae793c32c9_0_248"/>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g3ae793c32c9_0_248"/>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g3ae793c32c9_0_248"/>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3.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g3ae793c32c9_0_15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4" name="Google Shape;114;g3ae793c32c9_0_152"/>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15" name="Google Shape;115;g3ae793c32c9_0_152"/>
          <p:cNvSpPr txBox="1"/>
          <p:nvPr>
            <p:ph idx="10" type="dt"/>
          </p:nvPr>
        </p:nvSpPr>
        <p:spPr>
          <a:xfrm>
            <a:off x="609600" y="6356351"/>
            <a:ext cx="28449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6" name="Google Shape;116;g3ae793c32c9_0_152"/>
          <p:cNvSpPr txBox="1"/>
          <p:nvPr>
            <p:ph idx="11" type="ftr"/>
          </p:nvPr>
        </p:nvSpPr>
        <p:spPr>
          <a:xfrm>
            <a:off x="4165600" y="6356351"/>
            <a:ext cx="38607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7" name="Google Shape;117;g3ae793c32c9_0_152"/>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ae793c32c9_0_145"/>
          <p:cNvSpPr txBox="1"/>
          <p:nvPr>
            <p:ph type="ctrTitle"/>
          </p:nvPr>
        </p:nvSpPr>
        <p:spPr>
          <a:xfrm>
            <a:off x="723900" y="1181100"/>
            <a:ext cx="10744200" cy="1752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500"/>
              <a:buFont typeface="Arial"/>
              <a:buNone/>
            </a:pPr>
            <a:r>
              <a:rPr lang="en-US" sz="2800">
                <a:solidFill>
                  <a:srgbClr val="7030A0"/>
                </a:solidFill>
                <a:latin typeface="Times New Roman"/>
                <a:ea typeface="Times New Roman"/>
                <a:cs typeface="Times New Roman"/>
                <a:sym typeface="Times New Roman"/>
              </a:rPr>
              <a:t>An Ensemble Deep Learning Approach for Leukemia Stage Classification from Microscopic Blood Cell Images</a:t>
            </a:r>
            <a:endParaRPr sz="3200">
              <a:solidFill>
                <a:srgbClr val="7030A0"/>
              </a:solidFill>
              <a:latin typeface="Times New Roman"/>
              <a:ea typeface="Times New Roman"/>
              <a:cs typeface="Times New Roman"/>
              <a:sym typeface="Times New Roman"/>
            </a:endParaRPr>
          </a:p>
        </p:txBody>
      </p:sp>
      <p:sp>
        <p:nvSpPr>
          <p:cNvPr id="222" name="Google Shape;222;g3ae793c32c9_0_145"/>
          <p:cNvSpPr txBox="1"/>
          <p:nvPr>
            <p:ph idx="1" type="subTitle"/>
          </p:nvPr>
        </p:nvSpPr>
        <p:spPr>
          <a:xfrm>
            <a:off x="1066800" y="3810000"/>
            <a:ext cx="4800600" cy="3048000"/>
          </a:xfrm>
          <a:prstGeom prst="rect">
            <a:avLst/>
          </a:prstGeom>
          <a:noFill/>
          <a:ln>
            <a:noFill/>
          </a:ln>
        </p:spPr>
        <p:txBody>
          <a:bodyPr anchorCtr="0" anchor="t" bIns="45700" lIns="91425" spcFirstLastPara="1" rIns="91425" wrap="square" tIns="45700">
            <a:normAutofit lnSpcReduction="20000"/>
          </a:bodyPr>
          <a:lstStyle/>
          <a:p>
            <a:pPr indent="0" lvl="0" marL="0" rtl="0" algn="ctr">
              <a:spcBef>
                <a:spcPts val="0"/>
              </a:spcBef>
              <a:spcAft>
                <a:spcPts val="0"/>
              </a:spcAft>
              <a:buClr>
                <a:srgbClr val="366092"/>
              </a:buClr>
              <a:buSzPts val="600"/>
              <a:buNone/>
            </a:pPr>
            <a:r>
              <a:t/>
            </a:r>
            <a:endParaRPr b="1" sz="600">
              <a:solidFill>
                <a:schemeClr val="dk1"/>
              </a:solidFill>
              <a:latin typeface="Times New Roman"/>
              <a:ea typeface="Times New Roman"/>
              <a:cs typeface="Times New Roman"/>
              <a:sym typeface="Times New Roman"/>
            </a:endParaRPr>
          </a:p>
          <a:p>
            <a:pPr indent="0" lvl="0" marL="0" rtl="0" algn="ctr">
              <a:spcBef>
                <a:spcPts val="1000"/>
              </a:spcBef>
              <a:spcAft>
                <a:spcPts val="0"/>
              </a:spcAft>
              <a:buClr>
                <a:schemeClr val="dk1"/>
              </a:buClr>
              <a:buSzPts val="2000"/>
              <a:buFont typeface="Arial"/>
              <a:buNone/>
            </a:pPr>
            <a:r>
              <a:rPr b="1" lang="en-US" sz="2000">
                <a:solidFill>
                  <a:schemeClr val="dk1"/>
                </a:solidFill>
                <a:latin typeface="Times New Roman"/>
                <a:ea typeface="Times New Roman"/>
                <a:cs typeface="Times New Roman"/>
                <a:sym typeface="Times New Roman"/>
              </a:rPr>
              <a:t>Mir Siam</a:t>
            </a:r>
            <a:br>
              <a:rPr lang="en-US" sz="2000">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213–15–4438</a:t>
            </a:r>
            <a:endParaRPr sz="2000">
              <a:solidFill>
                <a:schemeClr val="dk1"/>
              </a:solidFill>
              <a:latin typeface="Times New Roman"/>
              <a:ea typeface="Times New Roman"/>
              <a:cs typeface="Times New Roman"/>
              <a:sym typeface="Times New Roman"/>
            </a:endParaRPr>
          </a:p>
          <a:p>
            <a:pPr indent="0" lvl="0" marL="0" rtl="0" algn="ctr">
              <a:spcBef>
                <a:spcPts val="1000"/>
              </a:spcBef>
              <a:spcAft>
                <a:spcPts val="0"/>
              </a:spcAft>
              <a:buClr>
                <a:schemeClr val="dk1"/>
              </a:buClr>
              <a:buSzPts val="2000"/>
              <a:buNone/>
            </a:pPr>
            <a:r>
              <a:rPr b="1" lang="en-US" sz="2000">
                <a:solidFill>
                  <a:schemeClr val="dk1"/>
                </a:solidFill>
                <a:latin typeface="Times New Roman"/>
                <a:ea typeface="Times New Roman"/>
                <a:cs typeface="Times New Roman"/>
                <a:sym typeface="Times New Roman"/>
              </a:rPr>
              <a:t>Farkulid Araf</a:t>
            </a:r>
            <a:br>
              <a:rPr lang="en-US" sz="2000">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213-15-4434</a:t>
            </a:r>
            <a:endParaRPr sz="900">
              <a:solidFill>
                <a:schemeClr val="dk1"/>
              </a:solidFill>
              <a:latin typeface="Times New Roman"/>
              <a:ea typeface="Times New Roman"/>
              <a:cs typeface="Times New Roman"/>
              <a:sym typeface="Times New Roman"/>
            </a:endParaRPr>
          </a:p>
          <a:p>
            <a:pPr indent="0" lvl="0" marL="0" rtl="0" algn="ctr">
              <a:spcBef>
                <a:spcPts val="1000"/>
              </a:spcBef>
              <a:spcAft>
                <a:spcPts val="0"/>
              </a:spcAft>
              <a:buClr>
                <a:schemeClr val="dk1"/>
              </a:buClr>
              <a:buSzPts val="1800"/>
              <a:buNone/>
            </a:pPr>
            <a:r>
              <a:rPr lang="en-US" sz="1800">
                <a:solidFill>
                  <a:schemeClr val="dk1"/>
                </a:solidFill>
                <a:latin typeface="Times New Roman"/>
                <a:ea typeface="Times New Roman"/>
                <a:cs typeface="Times New Roman"/>
                <a:sym typeface="Times New Roman"/>
              </a:rPr>
              <a:t>Department of  CSE</a:t>
            </a:r>
            <a:endParaRPr/>
          </a:p>
          <a:p>
            <a:pPr indent="0" lvl="0" marL="0" rtl="0" algn="ctr">
              <a:spcBef>
                <a:spcPts val="360"/>
              </a:spcBef>
              <a:spcAft>
                <a:spcPts val="0"/>
              </a:spcAft>
              <a:buClr>
                <a:schemeClr val="dk1"/>
              </a:buClr>
              <a:buSzPts val="1800"/>
              <a:buNone/>
            </a:pPr>
            <a:r>
              <a:rPr lang="en-US" sz="1800">
                <a:solidFill>
                  <a:schemeClr val="dk1"/>
                </a:solidFill>
                <a:latin typeface="Times New Roman"/>
                <a:ea typeface="Times New Roman"/>
                <a:cs typeface="Times New Roman"/>
                <a:sym typeface="Times New Roman"/>
              </a:rPr>
              <a:t>Daffodil International University</a:t>
            </a:r>
            <a:endParaRPr/>
          </a:p>
          <a:p>
            <a:pPr indent="0" lvl="0" marL="0" rtl="0" algn="ctr">
              <a:spcBef>
                <a:spcPts val="560"/>
              </a:spcBef>
              <a:spcAft>
                <a:spcPts val="0"/>
              </a:spcAft>
              <a:buClr>
                <a:srgbClr val="366092"/>
              </a:buClr>
              <a:buSzPts val="2800"/>
              <a:buNone/>
            </a:pPr>
            <a:r>
              <a:t/>
            </a:r>
            <a:endParaRPr sz="2800">
              <a:solidFill>
                <a:schemeClr val="dk1"/>
              </a:solidFill>
              <a:latin typeface="Times New Roman"/>
              <a:ea typeface="Times New Roman"/>
              <a:cs typeface="Times New Roman"/>
              <a:sym typeface="Times New Roman"/>
            </a:endParaRPr>
          </a:p>
          <a:p>
            <a:pPr indent="0" lvl="0" marL="0" rtl="0" algn="ctr">
              <a:spcBef>
                <a:spcPts val="540"/>
              </a:spcBef>
              <a:spcAft>
                <a:spcPts val="0"/>
              </a:spcAft>
              <a:buClr>
                <a:srgbClr val="366092"/>
              </a:buClr>
              <a:buSzPts val="2700"/>
              <a:buNone/>
            </a:pPr>
            <a:r>
              <a:t/>
            </a:r>
            <a:endParaRPr/>
          </a:p>
        </p:txBody>
      </p:sp>
      <p:sp>
        <p:nvSpPr>
          <p:cNvPr id="223" name="Google Shape;223;g3ae793c32c9_0_145"/>
          <p:cNvSpPr txBox="1"/>
          <p:nvPr>
            <p:ph idx="2" type="body"/>
          </p:nvPr>
        </p:nvSpPr>
        <p:spPr>
          <a:xfrm>
            <a:off x="6858000" y="3800573"/>
            <a:ext cx="4495800" cy="25908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342900" lvl="0" marL="342900" rtl="0" algn="ctr">
              <a:spcBef>
                <a:spcPts val="0"/>
              </a:spcBef>
              <a:spcAft>
                <a:spcPts val="0"/>
              </a:spcAft>
              <a:buClr>
                <a:srgbClr val="0070C0"/>
              </a:buClr>
              <a:buSzPts val="2200"/>
              <a:buNone/>
            </a:pPr>
            <a:r>
              <a:t/>
            </a:r>
            <a:endParaRPr b="1" sz="2200">
              <a:solidFill>
                <a:schemeClr val="dk1"/>
              </a:solidFill>
              <a:latin typeface="Times New Roman"/>
              <a:ea typeface="Times New Roman"/>
              <a:cs typeface="Times New Roman"/>
              <a:sym typeface="Times New Roman"/>
            </a:endParaRPr>
          </a:p>
          <a:p>
            <a:pPr indent="-342900" lvl="0" marL="342900" rtl="0" algn="ctr">
              <a:spcBef>
                <a:spcPts val="360"/>
              </a:spcBef>
              <a:spcAft>
                <a:spcPts val="0"/>
              </a:spcAft>
              <a:buClr>
                <a:schemeClr val="dk1"/>
              </a:buClr>
              <a:buSzPts val="1800"/>
              <a:buNone/>
            </a:pPr>
            <a:r>
              <a:rPr b="1" lang="en-US" sz="2000">
                <a:solidFill>
                  <a:schemeClr val="dk1"/>
                </a:solidFill>
                <a:latin typeface="Times New Roman"/>
                <a:ea typeface="Times New Roman"/>
                <a:cs typeface="Times New Roman"/>
                <a:sym typeface="Times New Roman"/>
              </a:rPr>
              <a:t>Ms. Umme Ayman</a:t>
            </a:r>
            <a:endParaRPr b="1" sz="2000">
              <a:solidFill>
                <a:schemeClr val="dk1"/>
              </a:solidFill>
              <a:latin typeface="Times New Roman"/>
              <a:ea typeface="Times New Roman"/>
              <a:cs typeface="Times New Roman"/>
              <a:sym typeface="Times New Roman"/>
            </a:endParaRPr>
          </a:p>
          <a:p>
            <a:pPr indent="-342900" lvl="0" marL="342900" rtl="0" algn="ctr">
              <a:spcBef>
                <a:spcPts val="360"/>
              </a:spcBef>
              <a:spcAft>
                <a:spcPts val="0"/>
              </a:spcAft>
              <a:buClr>
                <a:schemeClr val="dk1"/>
              </a:buClr>
              <a:buSzPts val="1800"/>
              <a:buNone/>
            </a:pPr>
            <a:r>
              <a:rPr b="1" lang="en-US" sz="1800">
                <a:solidFill>
                  <a:schemeClr val="dk1"/>
                </a:solidFill>
                <a:latin typeface="Times New Roman"/>
                <a:ea typeface="Times New Roman"/>
                <a:cs typeface="Times New Roman"/>
                <a:sym typeface="Times New Roman"/>
              </a:rPr>
              <a:t>Senior Lecturer </a:t>
            </a:r>
            <a:endParaRPr>
              <a:solidFill>
                <a:schemeClr val="dk1"/>
              </a:solidFill>
            </a:endParaRPr>
          </a:p>
          <a:p>
            <a:pPr indent="-342900" lvl="0" marL="342900" rtl="0" algn="ctr">
              <a:spcBef>
                <a:spcPts val="360"/>
              </a:spcBef>
              <a:spcAft>
                <a:spcPts val="0"/>
              </a:spcAft>
              <a:buClr>
                <a:schemeClr val="dk1"/>
              </a:buClr>
              <a:buSzPts val="1800"/>
              <a:buNone/>
            </a:pPr>
            <a:r>
              <a:rPr lang="en-US" sz="1800">
                <a:solidFill>
                  <a:schemeClr val="dk1"/>
                </a:solidFill>
                <a:latin typeface="Times New Roman"/>
                <a:ea typeface="Times New Roman"/>
                <a:cs typeface="Times New Roman"/>
                <a:sym typeface="Times New Roman"/>
              </a:rPr>
              <a:t>Department Of</a:t>
            </a:r>
            <a:r>
              <a:rPr lang="en-US" sz="1800">
                <a:solidFill>
                  <a:schemeClr val="dk1"/>
                </a:solidFill>
                <a:latin typeface="Times New Roman"/>
                <a:ea typeface="Times New Roman"/>
                <a:cs typeface="Times New Roman"/>
                <a:sym typeface="Times New Roman"/>
              </a:rPr>
              <a:t>  CSE</a:t>
            </a:r>
            <a:endParaRPr/>
          </a:p>
          <a:p>
            <a:pPr indent="-342900" lvl="0" marL="342900" rtl="0" algn="ctr">
              <a:spcBef>
                <a:spcPts val="360"/>
              </a:spcBef>
              <a:spcAft>
                <a:spcPts val="0"/>
              </a:spcAft>
              <a:buClr>
                <a:schemeClr val="dk1"/>
              </a:buClr>
              <a:buSzPts val="1800"/>
              <a:buNone/>
            </a:pPr>
            <a:r>
              <a:rPr lang="en-US" sz="1800">
                <a:solidFill>
                  <a:schemeClr val="dk1"/>
                </a:solidFill>
                <a:latin typeface="Times New Roman"/>
                <a:ea typeface="Times New Roman"/>
                <a:cs typeface="Times New Roman"/>
                <a:sym typeface="Times New Roman"/>
              </a:rPr>
              <a:t>Daffodil International University</a:t>
            </a:r>
            <a:endParaRPr/>
          </a:p>
          <a:p>
            <a:pPr indent="-342900" lvl="0" marL="342900" rtl="0" algn="ctr">
              <a:spcBef>
                <a:spcPts val="560"/>
              </a:spcBef>
              <a:spcAft>
                <a:spcPts val="0"/>
              </a:spcAft>
              <a:buClr>
                <a:srgbClr val="0070C0"/>
              </a:buClr>
              <a:buSzPts val="2800"/>
              <a:buNone/>
            </a:pPr>
            <a:r>
              <a:t/>
            </a:r>
            <a:endParaRPr sz="2800">
              <a:solidFill>
                <a:schemeClr val="dk1"/>
              </a:solidFill>
              <a:latin typeface="Times New Roman"/>
              <a:ea typeface="Times New Roman"/>
              <a:cs typeface="Times New Roman"/>
              <a:sym typeface="Times New Roman"/>
            </a:endParaRPr>
          </a:p>
        </p:txBody>
      </p:sp>
      <p:pic>
        <p:nvPicPr>
          <p:cNvPr id="224" name="Google Shape;224;g3ae793c32c9_0_145"/>
          <p:cNvPicPr preferRelativeResize="0"/>
          <p:nvPr/>
        </p:nvPicPr>
        <p:blipFill rotWithShape="1">
          <a:blip r:embed="rId3">
            <a:alphaModFix/>
          </a:blip>
          <a:srcRect b="0" l="0" r="0" t="0"/>
          <a:stretch/>
        </p:blipFill>
        <p:spPr>
          <a:xfrm>
            <a:off x="6297745" y="0"/>
            <a:ext cx="5804203" cy="685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Outline</a:t>
            </a:r>
            <a:endParaRPr>
              <a:solidFill>
                <a:srgbClr val="7030A0"/>
              </a:solidFill>
            </a:endParaRPr>
          </a:p>
        </p:txBody>
      </p:sp>
      <p:sp>
        <p:nvSpPr>
          <p:cNvPr id="230" name="Google Shape;230;p2"/>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15000"/>
              </a:lnSpc>
              <a:spcBef>
                <a:spcPts val="0"/>
              </a:spcBef>
              <a:spcAft>
                <a:spcPts val="0"/>
              </a:spcAft>
              <a:buClr>
                <a:schemeClr val="dk1"/>
              </a:buClr>
              <a:buSzPct val="100000"/>
              <a:buFont typeface="Noto Sans Symbols"/>
              <a:buChar char="⮚"/>
            </a:pPr>
            <a:r>
              <a:rPr lang="en-US" sz="2600">
                <a:solidFill>
                  <a:schemeClr val="dk1"/>
                </a:solidFill>
                <a:latin typeface="Times New Roman"/>
                <a:ea typeface="Times New Roman"/>
                <a:cs typeface="Times New Roman"/>
                <a:sym typeface="Times New Roman"/>
              </a:rPr>
              <a:t>Introduction</a:t>
            </a:r>
            <a:endParaRPr sz="2600"/>
          </a:p>
          <a:p>
            <a:pPr indent="-342900" lvl="0" marL="342900" rtl="0" algn="l">
              <a:lnSpc>
                <a:spcPct val="115000"/>
              </a:lnSpc>
              <a:spcBef>
                <a:spcPts val="440"/>
              </a:spcBef>
              <a:spcAft>
                <a:spcPts val="0"/>
              </a:spcAft>
              <a:buClr>
                <a:schemeClr val="dk1"/>
              </a:buClr>
              <a:buSzPct val="100000"/>
              <a:buFont typeface="Noto Sans Symbols"/>
              <a:buChar char="⮚"/>
            </a:pPr>
            <a:r>
              <a:rPr lang="en-US" sz="2600">
                <a:solidFill>
                  <a:schemeClr val="dk1"/>
                </a:solidFill>
                <a:latin typeface="Times New Roman"/>
                <a:ea typeface="Times New Roman"/>
                <a:cs typeface="Times New Roman"/>
                <a:sym typeface="Times New Roman"/>
              </a:rPr>
              <a:t>Objective</a:t>
            </a:r>
            <a:endParaRPr sz="2600"/>
          </a:p>
          <a:p>
            <a:pPr indent="-342900" lvl="0" marL="342900" rtl="0" algn="l">
              <a:lnSpc>
                <a:spcPct val="115000"/>
              </a:lnSpc>
              <a:spcBef>
                <a:spcPts val="440"/>
              </a:spcBef>
              <a:spcAft>
                <a:spcPts val="0"/>
              </a:spcAft>
              <a:buClr>
                <a:schemeClr val="dk1"/>
              </a:buClr>
              <a:buSzPct val="100000"/>
              <a:buFont typeface="Noto Sans Symbols"/>
              <a:buChar char="⮚"/>
            </a:pPr>
            <a:r>
              <a:rPr lang="en-US" sz="2600">
                <a:solidFill>
                  <a:schemeClr val="dk1"/>
                </a:solidFill>
                <a:latin typeface="Times New Roman"/>
                <a:ea typeface="Times New Roman"/>
                <a:cs typeface="Times New Roman"/>
                <a:sym typeface="Times New Roman"/>
              </a:rPr>
              <a:t>Background Study</a:t>
            </a:r>
            <a:endParaRPr sz="2600"/>
          </a:p>
          <a:p>
            <a:pPr indent="-342900" lvl="0" marL="342900" rtl="0" algn="l">
              <a:lnSpc>
                <a:spcPct val="115000"/>
              </a:lnSpc>
              <a:spcBef>
                <a:spcPts val="440"/>
              </a:spcBef>
              <a:spcAft>
                <a:spcPts val="0"/>
              </a:spcAft>
              <a:buClr>
                <a:schemeClr val="dk1"/>
              </a:buClr>
              <a:buSzPct val="100000"/>
              <a:buFont typeface="Noto Sans Symbols"/>
              <a:buChar char="⮚"/>
            </a:pPr>
            <a:r>
              <a:rPr lang="en-US" sz="2600">
                <a:solidFill>
                  <a:schemeClr val="dk1"/>
                </a:solidFill>
                <a:latin typeface="Times New Roman"/>
                <a:ea typeface="Times New Roman"/>
                <a:cs typeface="Times New Roman"/>
                <a:sym typeface="Times New Roman"/>
              </a:rPr>
              <a:t>Gap Analysis</a:t>
            </a:r>
            <a:endParaRPr sz="2600"/>
          </a:p>
          <a:p>
            <a:pPr indent="-342900" lvl="0" marL="342900" rtl="0" algn="l">
              <a:lnSpc>
                <a:spcPct val="115000"/>
              </a:lnSpc>
              <a:spcBef>
                <a:spcPts val="440"/>
              </a:spcBef>
              <a:spcAft>
                <a:spcPts val="0"/>
              </a:spcAft>
              <a:buClr>
                <a:schemeClr val="dk1"/>
              </a:buClr>
              <a:buSzPct val="100000"/>
              <a:buFont typeface="Noto Sans Symbols"/>
              <a:buChar char="⮚"/>
            </a:pPr>
            <a:r>
              <a:rPr lang="en-US" sz="2600">
                <a:solidFill>
                  <a:schemeClr val="dk1"/>
                </a:solidFill>
                <a:latin typeface="Times New Roman"/>
                <a:ea typeface="Times New Roman"/>
                <a:cs typeface="Times New Roman"/>
                <a:sym typeface="Times New Roman"/>
              </a:rPr>
              <a:t>Methodology</a:t>
            </a:r>
            <a:endParaRPr sz="2600"/>
          </a:p>
          <a:p>
            <a:pPr indent="-342900" lvl="0" marL="342900" rtl="0" algn="l">
              <a:lnSpc>
                <a:spcPct val="115000"/>
              </a:lnSpc>
              <a:spcBef>
                <a:spcPts val="440"/>
              </a:spcBef>
              <a:spcAft>
                <a:spcPts val="0"/>
              </a:spcAft>
              <a:buClr>
                <a:schemeClr val="dk1"/>
              </a:buClr>
              <a:buSzPct val="100000"/>
              <a:buFont typeface="Noto Sans Symbols"/>
              <a:buChar char="⮚"/>
            </a:pPr>
            <a:r>
              <a:rPr lang="en-US" sz="2600">
                <a:solidFill>
                  <a:schemeClr val="dk1"/>
                </a:solidFill>
                <a:latin typeface="Times New Roman"/>
                <a:ea typeface="Times New Roman"/>
                <a:cs typeface="Times New Roman"/>
                <a:sym typeface="Times New Roman"/>
              </a:rPr>
              <a:t>Results &amp; Analysis</a:t>
            </a:r>
            <a:endParaRPr sz="2600"/>
          </a:p>
          <a:p>
            <a:pPr indent="-342900" lvl="0" marL="342900" rtl="0" algn="l">
              <a:lnSpc>
                <a:spcPct val="115000"/>
              </a:lnSpc>
              <a:spcBef>
                <a:spcPts val="440"/>
              </a:spcBef>
              <a:spcAft>
                <a:spcPts val="0"/>
              </a:spcAft>
              <a:buClr>
                <a:schemeClr val="dk1"/>
              </a:buClr>
              <a:buSzPct val="100000"/>
              <a:buFont typeface="Noto Sans Symbols"/>
              <a:buChar char="⮚"/>
            </a:pPr>
            <a:r>
              <a:rPr lang="en-US" sz="2600">
                <a:solidFill>
                  <a:schemeClr val="dk1"/>
                </a:solidFill>
                <a:latin typeface="Times New Roman"/>
                <a:ea typeface="Times New Roman"/>
                <a:cs typeface="Times New Roman"/>
                <a:sym typeface="Times New Roman"/>
              </a:rPr>
              <a:t>Novelty of the Work</a:t>
            </a:r>
            <a:endParaRPr sz="2600"/>
          </a:p>
          <a:p>
            <a:pPr indent="-342900" lvl="0" marL="342900" rtl="0" algn="l">
              <a:lnSpc>
                <a:spcPct val="115000"/>
              </a:lnSpc>
              <a:spcBef>
                <a:spcPts val="440"/>
              </a:spcBef>
              <a:spcAft>
                <a:spcPts val="0"/>
              </a:spcAft>
              <a:buClr>
                <a:schemeClr val="dk1"/>
              </a:buClr>
              <a:buSzPct val="100000"/>
              <a:buFont typeface="Noto Sans Symbols"/>
              <a:buChar char="⮚"/>
            </a:pPr>
            <a:r>
              <a:rPr lang="en-US" sz="2600">
                <a:solidFill>
                  <a:schemeClr val="dk1"/>
                </a:solidFill>
                <a:latin typeface="Times New Roman"/>
                <a:ea typeface="Times New Roman"/>
                <a:cs typeface="Times New Roman"/>
                <a:sym typeface="Times New Roman"/>
              </a:rPr>
              <a:t>Conclusion</a:t>
            </a:r>
            <a:endParaRPr sz="2600"/>
          </a:p>
          <a:p>
            <a:pPr indent="-342900" lvl="0" marL="342900" rtl="0" algn="l">
              <a:lnSpc>
                <a:spcPct val="115000"/>
              </a:lnSpc>
              <a:spcBef>
                <a:spcPts val="440"/>
              </a:spcBef>
              <a:spcAft>
                <a:spcPts val="0"/>
              </a:spcAft>
              <a:buClr>
                <a:schemeClr val="dk1"/>
              </a:buClr>
              <a:buSzPct val="100000"/>
              <a:buFont typeface="Noto Sans Symbols"/>
              <a:buChar char="⮚"/>
            </a:pPr>
            <a:r>
              <a:rPr lang="en-US" sz="2600">
                <a:solidFill>
                  <a:schemeClr val="dk1"/>
                </a:solidFill>
                <a:latin typeface="Times New Roman"/>
                <a:ea typeface="Times New Roman"/>
                <a:cs typeface="Times New Roman"/>
                <a:sym typeface="Times New Roman"/>
              </a:rPr>
              <a:t>References</a:t>
            </a:r>
            <a:endParaRPr sz="2600"/>
          </a:p>
          <a:p>
            <a:pPr indent="-342900" lvl="0" marL="342900" rtl="0" algn="l">
              <a:lnSpc>
                <a:spcPct val="100000"/>
              </a:lnSpc>
              <a:spcBef>
                <a:spcPts val="640"/>
              </a:spcBef>
              <a:spcAft>
                <a:spcPts val="0"/>
              </a:spcAft>
              <a:buClr>
                <a:srgbClr val="366092"/>
              </a:buClr>
              <a:buSzPct val="100000"/>
              <a:buNone/>
            </a:pPr>
            <a:r>
              <a:t/>
            </a:r>
            <a:endParaRPr/>
          </a:p>
        </p:txBody>
      </p:sp>
      <p:sp>
        <p:nvSpPr>
          <p:cNvPr id="231" name="Google Shape;231;p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32" name="Google Shape;232;p2"/>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Introduction</a:t>
            </a:r>
            <a:endParaRPr>
              <a:solidFill>
                <a:srgbClr val="7030A0"/>
              </a:solidFill>
            </a:endParaRPr>
          </a:p>
        </p:txBody>
      </p:sp>
      <p:sp>
        <p:nvSpPr>
          <p:cNvPr id="238" name="Google Shape;238;p3"/>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366092"/>
              </a:buClr>
              <a:buSzPts val="3000"/>
              <a:buFont typeface="Arial"/>
              <a:buNone/>
            </a:pPr>
            <a:r>
              <a:rPr lang="en-US" sz="2600">
                <a:solidFill>
                  <a:schemeClr val="dk1"/>
                </a:solidFill>
                <a:latin typeface="Times New Roman"/>
                <a:ea typeface="Times New Roman"/>
                <a:cs typeface="Times New Roman"/>
                <a:sym typeface="Times New Roman"/>
              </a:rPr>
              <a:t>Leukemia is a fast-progressing blood cancer where early and accurate detection is crucial for effective treatment. Traditional microscopic diagnosis is time-consuming and often prone to human error due to subtle visual similarities between cell stages. This project proposes an ensemble deep learning approach to automate leukemia stage classification, improving diagnostic accuracy, speed, and clinical reliability.</a:t>
            </a:r>
            <a:endParaRPr sz="26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rgbClr val="366092"/>
              </a:buClr>
              <a:buSzPts val="3000"/>
              <a:buFont typeface="Arial"/>
              <a:buNone/>
            </a:pPr>
            <a:r>
              <a:t/>
            </a:r>
            <a:endParaRPr sz="2600">
              <a:solidFill>
                <a:schemeClr val="dk1"/>
              </a:solidFill>
              <a:latin typeface="Times New Roman"/>
              <a:ea typeface="Times New Roman"/>
              <a:cs typeface="Times New Roman"/>
              <a:sym typeface="Times New Roman"/>
            </a:endParaRPr>
          </a:p>
        </p:txBody>
      </p:sp>
      <p:sp>
        <p:nvSpPr>
          <p:cNvPr id="239" name="Google Shape;239;p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40" name="Google Shape;240;p3"/>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Objective</a:t>
            </a:r>
            <a:endParaRPr>
              <a:solidFill>
                <a:srgbClr val="7030A0"/>
              </a:solidFill>
            </a:endParaRPr>
          </a:p>
        </p:txBody>
      </p:sp>
      <p:sp>
        <p:nvSpPr>
          <p:cNvPr id="246" name="Google Shape;246;p4"/>
          <p:cNvSpPr txBox="1"/>
          <p:nvPr>
            <p:ph idx="1" type="body"/>
          </p:nvPr>
        </p:nvSpPr>
        <p:spPr>
          <a:xfrm>
            <a:off x="609600" y="1676400"/>
            <a:ext cx="10913400" cy="4873500"/>
          </a:xfrm>
          <a:prstGeom prst="rect">
            <a:avLst/>
          </a:prstGeom>
          <a:noFill/>
          <a:ln>
            <a:noFill/>
          </a:ln>
        </p:spPr>
        <p:txBody>
          <a:bodyPr anchorCtr="0" anchor="t" bIns="45700" lIns="91425" spcFirstLastPara="1" rIns="91425" wrap="square" tIns="45700">
            <a:noAutofit/>
          </a:bodyPr>
          <a:lstStyle/>
          <a:p>
            <a:pPr indent="-393700" lvl="0" marL="457200" rtl="0" algn="l">
              <a:lnSpc>
                <a:spcPct val="115000"/>
              </a:lnSpc>
              <a:spcBef>
                <a:spcPts val="1200"/>
              </a:spcBef>
              <a:spcAft>
                <a:spcPts val="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Develop an ensemble CNN model for leukemia stage classification.</a:t>
            </a:r>
            <a:endParaRPr sz="2600">
              <a:solidFill>
                <a:schemeClr val="dk1"/>
              </a:solidFill>
              <a:latin typeface="Times New Roman"/>
              <a:ea typeface="Times New Roman"/>
              <a:cs typeface="Times New Roman"/>
              <a:sym typeface="Times New Roman"/>
            </a:endParaRPr>
          </a:p>
          <a:p>
            <a:pPr indent="-393700" lvl="0" marL="457200" rtl="0" algn="l">
              <a:lnSpc>
                <a:spcPct val="115000"/>
              </a:lnSpc>
              <a:spcBef>
                <a:spcPts val="1000"/>
              </a:spcBef>
              <a:spcAft>
                <a:spcPts val="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Improve data quality through preprocessing and augmentation.</a:t>
            </a:r>
            <a:endParaRPr sz="2600">
              <a:solidFill>
                <a:schemeClr val="dk1"/>
              </a:solidFill>
              <a:latin typeface="Times New Roman"/>
              <a:ea typeface="Times New Roman"/>
              <a:cs typeface="Times New Roman"/>
              <a:sym typeface="Times New Roman"/>
            </a:endParaRPr>
          </a:p>
          <a:p>
            <a:pPr indent="-393700" lvl="0" marL="457200" rtl="0" algn="l">
              <a:lnSpc>
                <a:spcPct val="115000"/>
              </a:lnSpc>
              <a:spcBef>
                <a:spcPts val="1000"/>
              </a:spcBef>
              <a:spcAft>
                <a:spcPts val="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Handle class imbalance for stable model training.</a:t>
            </a:r>
            <a:endParaRPr sz="2600">
              <a:solidFill>
                <a:schemeClr val="dk1"/>
              </a:solidFill>
              <a:latin typeface="Times New Roman"/>
              <a:ea typeface="Times New Roman"/>
              <a:cs typeface="Times New Roman"/>
              <a:sym typeface="Times New Roman"/>
            </a:endParaRPr>
          </a:p>
          <a:p>
            <a:pPr indent="-393700" lvl="0" marL="457200" rtl="0" algn="l">
              <a:lnSpc>
                <a:spcPct val="115000"/>
              </a:lnSpc>
              <a:spcBef>
                <a:spcPts val="1000"/>
              </a:spcBef>
              <a:spcAft>
                <a:spcPts val="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Enhance interpretability using saliency-based visualization.</a:t>
            </a:r>
            <a:endParaRPr sz="2600">
              <a:solidFill>
                <a:schemeClr val="dk1"/>
              </a:solidFill>
              <a:latin typeface="Times New Roman"/>
              <a:ea typeface="Times New Roman"/>
              <a:cs typeface="Times New Roman"/>
              <a:sym typeface="Times New Roman"/>
            </a:endParaRPr>
          </a:p>
          <a:p>
            <a:pPr indent="-393700" lvl="0" marL="457200" rtl="0" algn="l">
              <a:lnSpc>
                <a:spcPct val="115000"/>
              </a:lnSpc>
              <a:spcBef>
                <a:spcPts val="1200"/>
              </a:spcBef>
              <a:spcAft>
                <a:spcPts val="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Evaluate performance against baseline CNN models. </a:t>
            </a:r>
            <a:endParaRPr sz="2600">
              <a:solidFill>
                <a:schemeClr val="dk1"/>
              </a:solidFill>
              <a:latin typeface="Times New Roman"/>
              <a:ea typeface="Times New Roman"/>
              <a:cs typeface="Times New Roman"/>
              <a:sym typeface="Times New Roman"/>
            </a:endParaRPr>
          </a:p>
          <a:p>
            <a:pPr indent="0" lvl="0" marL="0" rtl="0" algn="r">
              <a:lnSpc>
                <a:spcPct val="100000"/>
              </a:lnSpc>
              <a:spcBef>
                <a:spcPts val="1000"/>
              </a:spcBef>
              <a:spcAft>
                <a:spcPts val="0"/>
              </a:spcAft>
              <a:buClr>
                <a:srgbClr val="366092"/>
              </a:buClr>
              <a:buSzPts val="1875"/>
              <a:buNone/>
            </a:pPr>
            <a:r>
              <a:t/>
            </a:r>
            <a:endParaRPr sz="2600">
              <a:solidFill>
                <a:schemeClr val="dk1"/>
              </a:solidFill>
              <a:latin typeface="Times New Roman"/>
              <a:ea typeface="Times New Roman"/>
              <a:cs typeface="Times New Roman"/>
              <a:sym typeface="Times New Roman"/>
            </a:endParaRPr>
          </a:p>
        </p:txBody>
      </p:sp>
      <p:sp>
        <p:nvSpPr>
          <p:cNvPr id="247" name="Google Shape;247;p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48" name="Google Shape;248;p4"/>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5"/>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Background Study</a:t>
            </a:r>
            <a:endParaRPr>
              <a:solidFill>
                <a:srgbClr val="7030A0"/>
              </a:solidFill>
            </a:endParaRPr>
          </a:p>
        </p:txBody>
      </p:sp>
      <p:sp>
        <p:nvSpPr>
          <p:cNvPr id="254" name="Google Shape;254;p5"/>
          <p:cNvSpPr txBox="1"/>
          <p:nvPr>
            <p:ph idx="1" type="body"/>
          </p:nvPr>
        </p:nvSpPr>
        <p:spPr>
          <a:xfrm>
            <a:off x="609600" y="1676400"/>
            <a:ext cx="11091300" cy="3962400"/>
          </a:xfrm>
          <a:prstGeom prst="rect">
            <a:avLst/>
          </a:prstGeom>
          <a:noFill/>
          <a:ln>
            <a:noFill/>
          </a:ln>
        </p:spPr>
        <p:txBody>
          <a:bodyPr anchorCtr="0" anchor="t" bIns="45700" lIns="91425" spcFirstLastPara="1" rIns="91425" wrap="square" tIns="45700">
            <a:noAutofit/>
          </a:bodyPr>
          <a:lstStyle/>
          <a:p>
            <a:pPr indent="-395287" lvl="0" marL="457200" rtl="0" algn="l">
              <a:lnSpc>
                <a:spcPct val="115000"/>
              </a:lnSpc>
              <a:spcBef>
                <a:spcPts val="0"/>
              </a:spcBef>
              <a:spcAft>
                <a:spcPts val="0"/>
              </a:spcAft>
              <a:buClr>
                <a:schemeClr val="dk1"/>
              </a:buClr>
              <a:buSzPts val="2625"/>
              <a:buFont typeface="Times New Roman"/>
              <a:buChar char="➢"/>
            </a:pPr>
            <a:r>
              <a:rPr lang="en-US" sz="2625">
                <a:solidFill>
                  <a:schemeClr val="dk1"/>
                </a:solidFill>
                <a:latin typeface="Times New Roman"/>
                <a:ea typeface="Times New Roman"/>
                <a:cs typeface="Times New Roman"/>
                <a:sym typeface="Times New Roman"/>
              </a:rPr>
              <a:t>Leukemia detection from PBS images is complex and expert-dependent.</a:t>
            </a:r>
            <a:endParaRPr sz="2625">
              <a:solidFill>
                <a:schemeClr val="dk1"/>
              </a:solidFill>
              <a:latin typeface="Times New Roman"/>
              <a:ea typeface="Times New Roman"/>
              <a:cs typeface="Times New Roman"/>
              <a:sym typeface="Times New Roman"/>
            </a:endParaRPr>
          </a:p>
          <a:p>
            <a:pPr indent="-395287" lvl="0" marL="457200" rtl="0" algn="l">
              <a:lnSpc>
                <a:spcPct val="115000"/>
              </a:lnSpc>
              <a:spcBef>
                <a:spcPts val="1000"/>
              </a:spcBef>
              <a:spcAft>
                <a:spcPts val="0"/>
              </a:spcAft>
              <a:buClr>
                <a:schemeClr val="dk1"/>
              </a:buClr>
              <a:buSzPts val="2625"/>
              <a:buFont typeface="Times New Roman"/>
              <a:buChar char="➢"/>
            </a:pPr>
            <a:r>
              <a:rPr lang="en-US" sz="2625">
                <a:solidFill>
                  <a:schemeClr val="dk1"/>
                </a:solidFill>
                <a:latin typeface="Times New Roman"/>
                <a:ea typeface="Times New Roman"/>
                <a:cs typeface="Times New Roman"/>
                <a:sym typeface="Times New Roman"/>
              </a:rPr>
              <a:t>Deep learning improves diagnosis but needs large, balanced datasets.</a:t>
            </a:r>
            <a:endParaRPr sz="2625">
              <a:solidFill>
                <a:schemeClr val="dk1"/>
              </a:solidFill>
              <a:latin typeface="Times New Roman"/>
              <a:ea typeface="Times New Roman"/>
              <a:cs typeface="Times New Roman"/>
              <a:sym typeface="Times New Roman"/>
            </a:endParaRPr>
          </a:p>
          <a:p>
            <a:pPr indent="-395287" lvl="0" marL="457200" rtl="0" algn="l">
              <a:lnSpc>
                <a:spcPct val="115000"/>
              </a:lnSpc>
              <a:spcBef>
                <a:spcPts val="1000"/>
              </a:spcBef>
              <a:spcAft>
                <a:spcPts val="0"/>
              </a:spcAft>
              <a:buClr>
                <a:schemeClr val="dk1"/>
              </a:buClr>
              <a:buSzPts val="2625"/>
              <a:buFont typeface="Times New Roman"/>
              <a:buChar char="➢"/>
            </a:pPr>
            <a:r>
              <a:rPr lang="en-US" sz="2625">
                <a:solidFill>
                  <a:schemeClr val="dk1"/>
                </a:solidFill>
                <a:latin typeface="Times New Roman"/>
                <a:ea typeface="Times New Roman"/>
                <a:cs typeface="Times New Roman"/>
                <a:sym typeface="Times New Roman"/>
              </a:rPr>
              <a:t>Image variations and noise require strong preprocessing and augmentation.</a:t>
            </a:r>
            <a:endParaRPr sz="2625">
              <a:solidFill>
                <a:schemeClr val="dk1"/>
              </a:solidFill>
              <a:latin typeface="Times New Roman"/>
              <a:ea typeface="Times New Roman"/>
              <a:cs typeface="Times New Roman"/>
              <a:sym typeface="Times New Roman"/>
            </a:endParaRPr>
          </a:p>
          <a:p>
            <a:pPr indent="-395287" lvl="0" marL="457200" rtl="0" algn="l">
              <a:lnSpc>
                <a:spcPct val="115000"/>
              </a:lnSpc>
              <a:spcBef>
                <a:spcPts val="1000"/>
              </a:spcBef>
              <a:spcAft>
                <a:spcPts val="0"/>
              </a:spcAft>
              <a:buClr>
                <a:schemeClr val="dk1"/>
              </a:buClr>
              <a:buSzPts val="2625"/>
              <a:buFont typeface="Times New Roman"/>
              <a:buChar char="➢"/>
            </a:pPr>
            <a:r>
              <a:rPr lang="en-US" sz="2625">
                <a:solidFill>
                  <a:schemeClr val="dk1"/>
                </a:solidFill>
                <a:latin typeface="Times New Roman"/>
                <a:ea typeface="Times New Roman"/>
                <a:cs typeface="Times New Roman"/>
                <a:sym typeface="Times New Roman"/>
              </a:rPr>
              <a:t>Single CNN models often fail to generalize across all leukemia stages.</a:t>
            </a:r>
            <a:endParaRPr sz="2625">
              <a:solidFill>
                <a:schemeClr val="dk1"/>
              </a:solidFill>
              <a:latin typeface="Times New Roman"/>
              <a:ea typeface="Times New Roman"/>
              <a:cs typeface="Times New Roman"/>
              <a:sym typeface="Times New Roman"/>
            </a:endParaRPr>
          </a:p>
          <a:p>
            <a:pPr indent="-395287" lvl="0" marL="457200" rtl="0" algn="l">
              <a:lnSpc>
                <a:spcPct val="115000"/>
              </a:lnSpc>
              <a:spcBef>
                <a:spcPts val="1000"/>
              </a:spcBef>
              <a:spcAft>
                <a:spcPts val="0"/>
              </a:spcAft>
              <a:buClr>
                <a:schemeClr val="dk1"/>
              </a:buClr>
              <a:buSzPts val="2625"/>
              <a:buFont typeface="Times New Roman"/>
              <a:buChar char="➢"/>
            </a:pPr>
            <a:r>
              <a:rPr lang="en-US" sz="2625">
                <a:solidFill>
                  <a:schemeClr val="dk1"/>
                </a:solidFill>
                <a:latin typeface="Times New Roman"/>
                <a:ea typeface="Times New Roman"/>
                <a:cs typeface="Times New Roman"/>
                <a:sym typeface="Times New Roman"/>
              </a:rPr>
              <a:t>Clinically reliable AI needs interpretable, explainable model outputs.</a:t>
            </a:r>
            <a:endParaRPr sz="2625">
              <a:solidFill>
                <a:schemeClr val="dk1"/>
              </a:solidFill>
              <a:latin typeface="Times New Roman"/>
              <a:ea typeface="Times New Roman"/>
              <a:cs typeface="Times New Roman"/>
              <a:sym typeface="Times New Roman"/>
            </a:endParaRPr>
          </a:p>
          <a:p>
            <a:pPr indent="0" lvl="0" marL="457200" rtl="0" algn="l">
              <a:lnSpc>
                <a:spcPct val="115000"/>
              </a:lnSpc>
              <a:spcBef>
                <a:spcPts val="1000"/>
              </a:spcBef>
              <a:spcAft>
                <a:spcPts val="0"/>
              </a:spcAft>
              <a:buNone/>
            </a:pPr>
            <a:r>
              <a:t/>
            </a:r>
            <a:endParaRPr sz="2625">
              <a:solidFill>
                <a:schemeClr val="dk1"/>
              </a:solidFill>
              <a:latin typeface="Times New Roman"/>
              <a:ea typeface="Times New Roman"/>
              <a:cs typeface="Times New Roman"/>
              <a:sym typeface="Times New Roman"/>
            </a:endParaRPr>
          </a:p>
        </p:txBody>
      </p:sp>
      <p:sp>
        <p:nvSpPr>
          <p:cNvPr id="255" name="Google Shape;255;p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56" name="Google Shape;256;p5"/>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6"/>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Gap Analysis</a:t>
            </a:r>
            <a:endParaRPr>
              <a:solidFill>
                <a:srgbClr val="7030A0"/>
              </a:solidFill>
            </a:endParaRPr>
          </a:p>
        </p:txBody>
      </p:sp>
      <p:sp>
        <p:nvSpPr>
          <p:cNvPr id="262" name="Google Shape;262;p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263" name="Google Shape;263;p6"/>
          <p:cNvGraphicFramePr/>
          <p:nvPr/>
        </p:nvGraphicFramePr>
        <p:xfrm>
          <a:off x="952500" y="1281900"/>
          <a:ext cx="3000000" cy="3000000"/>
        </p:xfrm>
        <a:graphic>
          <a:graphicData uri="http://schemas.openxmlformats.org/drawingml/2006/table">
            <a:tbl>
              <a:tblPr>
                <a:noFill/>
                <a:tableStyleId>{23A31934-CE62-4EDE-89C3-332C2A347640}</a:tableStyleId>
              </a:tblPr>
              <a:tblGrid>
                <a:gridCol w="3429000"/>
                <a:gridCol w="3429000"/>
                <a:gridCol w="3429000"/>
              </a:tblGrid>
              <a:tr h="381000">
                <a:tc>
                  <a:txBody>
                    <a:bodyPr/>
                    <a:lstStyle/>
                    <a:p>
                      <a:pPr indent="0" lvl="0" marL="0" rtl="0" algn="l">
                        <a:spcBef>
                          <a:spcPts val="0"/>
                        </a:spcBef>
                        <a:spcAft>
                          <a:spcPts val="0"/>
                        </a:spcAft>
                        <a:buNone/>
                      </a:pPr>
                      <a:r>
                        <a:rPr b="1" lang="en-US" sz="1500">
                          <a:latin typeface="Century"/>
                          <a:ea typeface="Century"/>
                          <a:cs typeface="Century"/>
                          <a:sym typeface="Century"/>
                        </a:rPr>
                        <a:t>Gap Identified</a:t>
                      </a:r>
                      <a:endParaRPr b="1"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1500">
                          <a:latin typeface="Century"/>
                          <a:ea typeface="Century"/>
                          <a:cs typeface="Century"/>
                          <a:sym typeface="Century"/>
                        </a:rPr>
                        <a:t>Studies Showing the Gap</a:t>
                      </a:r>
                      <a:endParaRPr b="1"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1500">
                          <a:latin typeface="Century"/>
                          <a:ea typeface="Century"/>
                          <a:cs typeface="Century"/>
                          <a:sym typeface="Century"/>
                        </a:rPr>
                        <a:t>How this Study Addresses the Gap</a:t>
                      </a:r>
                      <a:endParaRPr b="1"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500">
                          <a:latin typeface="Century"/>
                          <a:ea typeface="Century"/>
                          <a:cs typeface="Century"/>
                          <a:sym typeface="Century"/>
                        </a:rPr>
                        <a:t>1. Lack of feature reduction despite large, fused feature sets</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Abdul Karim et al. [1], Ghada Atteia et al. [3], Paswan &amp; Rathore [5]</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Uses PCA to remove redundancy and produce compact feature sets.</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500">
                          <a:latin typeface="Century"/>
                          <a:ea typeface="Century"/>
                          <a:cs typeface="Century"/>
                          <a:sym typeface="Century"/>
                        </a:rPr>
                        <a:t>2. Heavy reliance on deep models with high computational cost</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i-Net [4], CNN-based works [6,13,14]</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Uses lightweight feature extraction + efficient ML classifiers for faster, low-cost deployment.</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500">
                          <a:latin typeface="Century"/>
                          <a:ea typeface="Century"/>
                          <a:cs typeface="Century"/>
                          <a:sym typeface="Century"/>
                        </a:rPr>
                        <a:t>3. Limited generalization due to curated datasets &amp; inconsistent preprocessing</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Abdul Karim et al. [1], Atteia et al. [3], Ghaderzadeh et al. [6]</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Applies a unified preprocessing pipeline to improve consistency and robustness.</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500">
                          <a:latin typeface="Century"/>
                          <a:ea typeface="Century"/>
                          <a:cs typeface="Century"/>
                          <a:sym typeface="Century"/>
                        </a:rPr>
                        <a:t>4. XAI used mainly for visualization, not integrated into workflow</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Achir et al. [14], Ghaderzadeh et al. review [6]</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Integrates Grad-CAM into the evaluation to validate and explain predictions.</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1500">
                          <a:latin typeface="Century"/>
                          <a:ea typeface="Century"/>
                          <a:cs typeface="Century"/>
                          <a:sym typeface="Century"/>
                        </a:rPr>
                        <a:t>5. Lack of real-world deployment and mobile-ready systems</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Observed across multiple studies; i-Net [4] notes limited practical deployment</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entury"/>
                          <a:ea typeface="Century"/>
                          <a:cs typeface="Century"/>
                          <a:sym typeface="Century"/>
                        </a:rPr>
                        <a:t>Builds a mobile-ready system enabling real-time prediction with explainability.</a:t>
                      </a:r>
                      <a:endParaRPr sz="1500">
                        <a:latin typeface="Century"/>
                        <a:ea typeface="Century"/>
                        <a:cs typeface="Century"/>
                        <a:sym typeface="Century"/>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pic>
        <p:nvPicPr>
          <p:cNvPr id="264" name="Google Shape;264;p6"/>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7"/>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Methodology</a:t>
            </a:r>
            <a:endParaRPr>
              <a:solidFill>
                <a:srgbClr val="7030A0"/>
              </a:solidFill>
            </a:endParaRPr>
          </a:p>
        </p:txBody>
      </p:sp>
      <p:sp>
        <p:nvSpPr>
          <p:cNvPr id="270" name="Google Shape;270;p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71" name="Google Shape;271;p7" title="methodology blood.png"/>
          <p:cNvPicPr preferRelativeResize="0"/>
          <p:nvPr/>
        </p:nvPicPr>
        <p:blipFill>
          <a:blip r:embed="rId3">
            <a:alphaModFix/>
          </a:blip>
          <a:stretch>
            <a:fillRect/>
          </a:stretch>
        </p:blipFill>
        <p:spPr>
          <a:xfrm>
            <a:off x="1722474" y="1337150"/>
            <a:ext cx="8747045" cy="4648150"/>
          </a:xfrm>
          <a:prstGeom prst="rect">
            <a:avLst/>
          </a:prstGeom>
          <a:noFill/>
          <a:ln>
            <a:noFill/>
          </a:ln>
        </p:spPr>
      </p:pic>
      <p:pic>
        <p:nvPicPr>
          <p:cNvPr id="272" name="Google Shape;272;p7"/>
          <p:cNvPicPr preferRelativeResize="0"/>
          <p:nvPr/>
        </p:nvPicPr>
        <p:blipFill rotWithShape="1">
          <a:blip r:embed="rId4">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8"/>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Results and Analysis</a:t>
            </a:r>
            <a:endParaRPr>
              <a:solidFill>
                <a:srgbClr val="7030A0"/>
              </a:solidFill>
            </a:endParaRPr>
          </a:p>
        </p:txBody>
      </p:sp>
      <p:sp>
        <p:nvSpPr>
          <p:cNvPr id="278" name="Google Shape;278;p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279" name="Google Shape;279;p8"/>
          <p:cNvGraphicFramePr/>
          <p:nvPr/>
        </p:nvGraphicFramePr>
        <p:xfrm>
          <a:off x="1169825" y="1494238"/>
          <a:ext cx="3000000" cy="3000000"/>
        </p:xfrm>
        <a:graphic>
          <a:graphicData uri="http://schemas.openxmlformats.org/drawingml/2006/table">
            <a:tbl>
              <a:tblPr bandRow="1" firstCol="1" firstRow="1">
                <a:noFill/>
                <a:tableStyleId>{6736ECA3-EA49-4B04-8A1A-CDBBCCDAEED6}</a:tableStyleId>
              </a:tblPr>
              <a:tblGrid>
                <a:gridCol w="2348650"/>
                <a:gridCol w="2348650"/>
              </a:tblGrid>
              <a:tr h="304800">
                <a:tc>
                  <a:txBody>
                    <a:bodyPr/>
                    <a:lstStyle/>
                    <a:p>
                      <a:pPr indent="0" lvl="0" marL="64135" marR="18415" rtl="0" algn="ctr">
                        <a:lnSpc>
                          <a:spcPct val="150000"/>
                        </a:lnSpc>
                        <a:spcBef>
                          <a:spcPts val="0"/>
                        </a:spcBef>
                        <a:spcAft>
                          <a:spcPts val="0"/>
                        </a:spcAft>
                        <a:buNone/>
                      </a:pPr>
                      <a:r>
                        <a:rPr lang="en-US" sz="1500" u="none" cap="none" strike="noStrike">
                          <a:latin typeface="Century"/>
                          <a:ea typeface="Century"/>
                          <a:cs typeface="Century"/>
                          <a:sym typeface="Century"/>
                        </a:rPr>
                        <a:t>Parameter Name</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64135" marR="18415" rtl="0" algn="ctr">
                        <a:lnSpc>
                          <a:spcPct val="150000"/>
                        </a:lnSpc>
                        <a:spcBef>
                          <a:spcPts val="0"/>
                        </a:spcBef>
                        <a:spcAft>
                          <a:spcPts val="0"/>
                        </a:spcAft>
                        <a:buNone/>
                      </a:pPr>
                      <a:r>
                        <a:rPr lang="en-US" sz="1500" u="none" cap="none" strike="noStrike">
                          <a:latin typeface="Century"/>
                          <a:ea typeface="Century"/>
                          <a:cs typeface="Century"/>
                          <a:sym typeface="Century"/>
                        </a:rPr>
                        <a:t>Parameter Value</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04800">
                <a:tc>
                  <a:txBody>
                    <a:bodyPr/>
                    <a:lstStyle/>
                    <a:p>
                      <a:pPr indent="0" lvl="0" marL="64135" marR="18415" rtl="0" algn="ctr">
                        <a:lnSpc>
                          <a:spcPct val="150000"/>
                        </a:lnSpc>
                        <a:spcBef>
                          <a:spcPts val="1000"/>
                        </a:spcBef>
                        <a:spcAft>
                          <a:spcPts val="0"/>
                        </a:spcAft>
                        <a:buNone/>
                      </a:pPr>
                      <a:r>
                        <a:rPr b="0" lang="en-US" sz="1500" u="none" cap="none" strike="noStrike">
                          <a:latin typeface="Century"/>
                          <a:ea typeface="Century"/>
                          <a:cs typeface="Century"/>
                          <a:sym typeface="Century"/>
                        </a:rPr>
                        <a:t>Image Size</a:t>
                      </a:r>
                      <a:endParaRPr b="0"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lnSpc>
                          <a:spcPct val="150000"/>
                        </a:lnSpc>
                        <a:spcBef>
                          <a:spcPts val="1000"/>
                        </a:spcBef>
                        <a:spcAft>
                          <a:spcPts val="0"/>
                        </a:spcAft>
                        <a:buNone/>
                      </a:pPr>
                      <a:r>
                        <a:rPr lang="en-US" sz="1500" u="none" cap="none" strike="noStrike">
                          <a:latin typeface="Century"/>
                          <a:ea typeface="Century"/>
                          <a:cs typeface="Century"/>
                          <a:sym typeface="Century"/>
                        </a:rPr>
                        <a:t>224 x 224</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64135" marR="18415" rtl="0" algn="ctr">
                        <a:lnSpc>
                          <a:spcPct val="150000"/>
                        </a:lnSpc>
                        <a:spcBef>
                          <a:spcPts val="1000"/>
                        </a:spcBef>
                        <a:spcAft>
                          <a:spcPts val="0"/>
                        </a:spcAft>
                        <a:buNone/>
                      </a:pPr>
                      <a:r>
                        <a:rPr b="0" lang="en-US" sz="1500" u="none" cap="none" strike="noStrike">
                          <a:latin typeface="Century"/>
                          <a:ea typeface="Century"/>
                          <a:cs typeface="Century"/>
                          <a:sym typeface="Century"/>
                        </a:rPr>
                        <a:t>Batch Size</a:t>
                      </a:r>
                      <a:endParaRPr b="0"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lnSpc>
                          <a:spcPct val="150000"/>
                        </a:lnSpc>
                        <a:spcBef>
                          <a:spcPts val="1000"/>
                        </a:spcBef>
                        <a:spcAft>
                          <a:spcPts val="0"/>
                        </a:spcAft>
                        <a:buNone/>
                      </a:pPr>
                      <a:r>
                        <a:rPr lang="en-US" sz="1500">
                          <a:latin typeface="Century"/>
                          <a:ea typeface="Century"/>
                          <a:cs typeface="Century"/>
                          <a:sym typeface="Century"/>
                        </a:rPr>
                        <a:t>Balanced</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64135" marR="18415" rtl="0" algn="ctr">
                        <a:lnSpc>
                          <a:spcPct val="150000"/>
                        </a:lnSpc>
                        <a:spcBef>
                          <a:spcPts val="1000"/>
                        </a:spcBef>
                        <a:spcAft>
                          <a:spcPts val="0"/>
                        </a:spcAft>
                        <a:buNone/>
                      </a:pPr>
                      <a:r>
                        <a:rPr b="0" lang="en-US" sz="1500" u="none" cap="none" strike="noStrike">
                          <a:latin typeface="Century"/>
                          <a:ea typeface="Century"/>
                          <a:cs typeface="Century"/>
                          <a:sym typeface="Century"/>
                        </a:rPr>
                        <a:t>Optimizer</a:t>
                      </a:r>
                      <a:endParaRPr b="0"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lnSpc>
                          <a:spcPct val="150000"/>
                        </a:lnSpc>
                        <a:spcBef>
                          <a:spcPts val="1000"/>
                        </a:spcBef>
                        <a:spcAft>
                          <a:spcPts val="0"/>
                        </a:spcAft>
                        <a:buNone/>
                      </a:pPr>
                      <a:r>
                        <a:rPr lang="en-US" sz="1500" u="none" cap="none" strike="noStrike">
                          <a:latin typeface="Century"/>
                          <a:ea typeface="Century"/>
                          <a:cs typeface="Century"/>
                          <a:sym typeface="Century"/>
                        </a:rPr>
                        <a:t>Adam</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64135" marR="18415" rtl="0" algn="ctr">
                        <a:lnSpc>
                          <a:spcPct val="150000"/>
                        </a:lnSpc>
                        <a:spcBef>
                          <a:spcPts val="1000"/>
                        </a:spcBef>
                        <a:spcAft>
                          <a:spcPts val="1000"/>
                        </a:spcAft>
                        <a:buNone/>
                      </a:pPr>
                      <a:r>
                        <a:rPr b="0" lang="en-US" sz="1500" u="none" cap="none" strike="noStrike">
                          <a:latin typeface="Century"/>
                          <a:ea typeface="Century"/>
                          <a:cs typeface="Century"/>
                          <a:sym typeface="Century"/>
                        </a:rPr>
                        <a:t>Learning Rate</a:t>
                      </a:r>
                      <a:endParaRPr b="0"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lnSpc>
                          <a:spcPct val="150000"/>
                        </a:lnSpc>
                        <a:spcBef>
                          <a:spcPts val="1000"/>
                        </a:spcBef>
                        <a:spcAft>
                          <a:spcPts val="1000"/>
                        </a:spcAft>
                        <a:buNone/>
                      </a:pPr>
                      <a:r>
                        <a:rPr lang="en-US" sz="1500" u="none" cap="none" strike="noStrike">
                          <a:latin typeface="Century"/>
                          <a:ea typeface="Century"/>
                          <a:cs typeface="Century"/>
                          <a:sym typeface="Century"/>
                        </a:rPr>
                        <a:t>0.0</a:t>
                      </a:r>
                      <a:r>
                        <a:rPr lang="en-US" sz="1500">
                          <a:latin typeface="Century"/>
                          <a:ea typeface="Century"/>
                          <a:cs typeface="Century"/>
                          <a:sym typeface="Century"/>
                        </a:rPr>
                        <a:t>01</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80" name="Google Shape;280;p8"/>
          <p:cNvGraphicFramePr/>
          <p:nvPr/>
        </p:nvGraphicFramePr>
        <p:xfrm>
          <a:off x="6409205" y="1494244"/>
          <a:ext cx="3000000" cy="3000000"/>
        </p:xfrm>
        <a:graphic>
          <a:graphicData uri="http://schemas.openxmlformats.org/drawingml/2006/table">
            <a:tbl>
              <a:tblPr bandRow="1" firstCol="1" firstRow="1">
                <a:noFill/>
                <a:tableStyleId>{6736ECA3-EA49-4B04-8A1A-CDBBCCDAEED6}</a:tableStyleId>
              </a:tblPr>
              <a:tblGrid>
                <a:gridCol w="2172975"/>
                <a:gridCol w="2172975"/>
              </a:tblGrid>
              <a:tr h="381000">
                <a:tc>
                  <a:txBody>
                    <a:bodyPr/>
                    <a:lstStyle/>
                    <a:p>
                      <a:pPr indent="0" lvl="0" marL="64135" marR="18415" rtl="0" algn="ctr">
                        <a:spcBef>
                          <a:spcPts val="0"/>
                        </a:spcBef>
                        <a:spcAft>
                          <a:spcPts val="0"/>
                        </a:spcAft>
                        <a:buNone/>
                      </a:pPr>
                      <a:r>
                        <a:rPr lang="en-US" sz="1500" u="none" cap="none" strike="noStrike">
                          <a:latin typeface="Century"/>
                          <a:ea typeface="Century"/>
                          <a:cs typeface="Century"/>
                          <a:sym typeface="Century"/>
                        </a:rPr>
                        <a:t>Dataset</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64135" marR="18415" rtl="0" algn="ctr">
                        <a:spcBef>
                          <a:spcPts val="0"/>
                        </a:spcBef>
                        <a:spcAft>
                          <a:spcPts val="0"/>
                        </a:spcAft>
                        <a:buNone/>
                      </a:pPr>
                      <a:r>
                        <a:rPr lang="en-US" sz="1500" u="none" cap="none" strike="noStrike">
                          <a:latin typeface="Century"/>
                          <a:ea typeface="Century"/>
                          <a:cs typeface="Century"/>
                          <a:sym typeface="Century"/>
                        </a:rPr>
                        <a:t>In Percentage</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81000">
                <a:tc>
                  <a:txBody>
                    <a:bodyPr/>
                    <a:lstStyle/>
                    <a:p>
                      <a:pPr indent="0" lvl="0" marL="64135" marR="18415" rtl="0" algn="ctr">
                        <a:spcBef>
                          <a:spcPts val="0"/>
                        </a:spcBef>
                        <a:spcAft>
                          <a:spcPts val="0"/>
                        </a:spcAft>
                        <a:buNone/>
                      </a:pPr>
                      <a:r>
                        <a:rPr b="0" lang="en-US" sz="1500" u="none" cap="none" strike="noStrike">
                          <a:latin typeface="Century"/>
                          <a:ea typeface="Century"/>
                          <a:cs typeface="Century"/>
                          <a:sym typeface="Century"/>
                        </a:rPr>
                        <a:t>Train set</a:t>
                      </a:r>
                      <a:endParaRPr b="0"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spcBef>
                          <a:spcPts val="0"/>
                        </a:spcBef>
                        <a:spcAft>
                          <a:spcPts val="0"/>
                        </a:spcAft>
                        <a:buNone/>
                      </a:pPr>
                      <a:r>
                        <a:rPr lang="en-US" sz="1500">
                          <a:latin typeface="Century"/>
                          <a:ea typeface="Century"/>
                          <a:cs typeface="Century"/>
                          <a:sym typeface="Century"/>
                        </a:rPr>
                        <a:t>70</a:t>
                      </a:r>
                      <a:r>
                        <a:rPr lang="en-US" sz="1500" u="none" cap="none" strike="noStrike">
                          <a:latin typeface="Century"/>
                          <a:ea typeface="Century"/>
                          <a:cs typeface="Century"/>
                          <a:sym typeface="Century"/>
                        </a:rPr>
                        <a:t>%</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64135" marR="18415" rtl="0" algn="ctr">
                        <a:spcBef>
                          <a:spcPts val="0"/>
                        </a:spcBef>
                        <a:spcAft>
                          <a:spcPts val="0"/>
                        </a:spcAft>
                        <a:buNone/>
                      </a:pPr>
                      <a:r>
                        <a:rPr b="0" lang="en-US" sz="1500" u="none" cap="none" strike="noStrike">
                          <a:latin typeface="Century"/>
                          <a:ea typeface="Century"/>
                          <a:cs typeface="Century"/>
                          <a:sym typeface="Century"/>
                        </a:rPr>
                        <a:t>Validation Set</a:t>
                      </a:r>
                      <a:endParaRPr b="0"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spcBef>
                          <a:spcPts val="0"/>
                        </a:spcBef>
                        <a:spcAft>
                          <a:spcPts val="0"/>
                        </a:spcAft>
                        <a:buNone/>
                      </a:pPr>
                      <a:r>
                        <a:rPr lang="en-US" sz="1500" u="none" cap="none" strike="noStrike">
                          <a:latin typeface="Century"/>
                          <a:ea typeface="Century"/>
                          <a:cs typeface="Century"/>
                          <a:sym typeface="Century"/>
                        </a:rPr>
                        <a:t>1</a:t>
                      </a:r>
                      <a:r>
                        <a:rPr lang="en-US" sz="1500">
                          <a:latin typeface="Century"/>
                          <a:ea typeface="Century"/>
                          <a:cs typeface="Century"/>
                          <a:sym typeface="Century"/>
                        </a:rPr>
                        <a:t>5</a:t>
                      </a:r>
                      <a:r>
                        <a:rPr lang="en-US" sz="1500" u="none" cap="none" strike="noStrike">
                          <a:latin typeface="Century"/>
                          <a:ea typeface="Century"/>
                          <a:cs typeface="Century"/>
                          <a:sym typeface="Century"/>
                        </a:rPr>
                        <a:t>%</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64135" marR="18415" rtl="0" algn="ctr">
                        <a:spcBef>
                          <a:spcPts val="0"/>
                        </a:spcBef>
                        <a:spcAft>
                          <a:spcPts val="0"/>
                        </a:spcAft>
                        <a:buNone/>
                      </a:pPr>
                      <a:r>
                        <a:rPr b="0" lang="en-US" sz="1500" u="none" cap="none" strike="noStrike">
                          <a:latin typeface="Century"/>
                          <a:ea typeface="Century"/>
                          <a:cs typeface="Century"/>
                          <a:sym typeface="Century"/>
                        </a:rPr>
                        <a:t>Test Set</a:t>
                      </a:r>
                      <a:endParaRPr b="0"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spcBef>
                          <a:spcPts val="0"/>
                        </a:spcBef>
                        <a:spcAft>
                          <a:spcPts val="0"/>
                        </a:spcAft>
                        <a:buNone/>
                      </a:pPr>
                      <a:r>
                        <a:rPr lang="en-US" sz="1500" u="none" cap="none" strike="noStrike">
                          <a:latin typeface="Century"/>
                          <a:ea typeface="Century"/>
                          <a:cs typeface="Century"/>
                          <a:sym typeface="Century"/>
                        </a:rPr>
                        <a:t>15%</a:t>
                      </a:r>
                      <a:endParaRPr sz="1500" u="none" cap="none" strike="noStrike">
                        <a:latin typeface="Century"/>
                        <a:ea typeface="Century"/>
                        <a:cs typeface="Century"/>
                        <a:sym typeface="Century"/>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281" name="Google Shape;281;p8"/>
          <p:cNvGraphicFramePr/>
          <p:nvPr/>
        </p:nvGraphicFramePr>
        <p:xfrm>
          <a:off x="1169850" y="3504625"/>
          <a:ext cx="3000000" cy="3000000"/>
        </p:xfrm>
        <a:graphic>
          <a:graphicData uri="http://schemas.openxmlformats.org/drawingml/2006/table">
            <a:tbl>
              <a:tblPr bandRow="1" firstCol="1" firstRow="1">
                <a:noFill/>
                <a:tableStyleId>{6736ECA3-EA49-4B04-8A1A-CDBBCCDAEED6}</a:tableStyleId>
              </a:tblPr>
              <a:tblGrid>
                <a:gridCol w="3380875"/>
                <a:gridCol w="3103925"/>
                <a:gridCol w="3100500"/>
              </a:tblGrid>
              <a:tr h="438825">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Models</a:t>
                      </a:r>
                      <a:endParaRPr sz="1500" u="none" cap="none" strike="noStrike">
                        <a:latin typeface="Century"/>
                        <a:ea typeface="Century"/>
                        <a:cs typeface="Century"/>
                        <a:sym typeface="Century"/>
                      </a:endParaRPr>
                    </a:p>
                  </a:txBody>
                  <a:tcPr marT="0" marB="0" marR="20275" marL="202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dk2"/>
                    </a:solidFill>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Validation Accuracy</a:t>
                      </a:r>
                      <a:endParaRPr sz="1500" u="none" cap="none" strike="noStrike">
                        <a:latin typeface="Century"/>
                        <a:ea typeface="Century"/>
                        <a:cs typeface="Century"/>
                        <a:sym typeface="Century"/>
                      </a:endParaRPr>
                    </a:p>
                  </a:txBody>
                  <a:tcPr marT="0" marB="0" marR="20275" marL="202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Test Accuracy</a:t>
                      </a:r>
                      <a:endParaRPr sz="1500" u="none" cap="none" strike="noStrike">
                        <a:latin typeface="Century"/>
                        <a:ea typeface="Century"/>
                        <a:cs typeface="Century"/>
                        <a:sym typeface="Century"/>
                      </a:endParaRPr>
                    </a:p>
                  </a:txBody>
                  <a:tcPr marT="0" marB="0" marR="20275" marL="202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r>
              <a:tr h="438825">
                <a:tc>
                  <a:txBody>
                    <a:bodyPr/>
                    <a:lstStyle/>
                    <a:p>
                      <a:pPr indent="0" lvl="0" marL="0" rtl="0" algn="l">
                        <a:spcBef>
                          <a:spcPts val="0"/>
                        </a:spcBef>
                        <a:spcAft>
                          <a:spcPts val="0"/>
                        </a:spcAft>
                        <a:buNone/>
                      </a:pPr>
                      <a:r>
                        <a:rPr b="0" lang="en-US" sz="1500">
                          <a:latin typeface="Century"/>
                          <a:ea typeface="Century"/>
                          <a:cs typeface="Century"/>
                          <a:sym typeface="Century"/>
                        </a:rPr>
                        <a:t>MobileNetV3 (Best Baseline)</a:t>
                      </a:r>
                      <a:endParaRPr b="0" sz="1500">
                        <a:latin typeface="Century"/>
                        <a:ea typeface="Century"/>
                        <a:cs typeface="Century"/>
                        <a:sym typeface="Century"/>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dk2"/>
                    </a:solidFill>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94.62%</a:t>
                      </a:r>
                      <a:endParaRPr sz="1500" u="none" cap="none" strike="noStrike">
                        <a:latin typeface="Century"/>
                        <a:ea typeface="Century"/>
                        <a:cs typeface="Century"/>
                        <a:sym typeface="Century"/>
                      </a:endParaRPr>
                    </a:p>
                  </a:txBody>
                  <a:tcPr marT="0" marB="0" marR="20275" marL="20275" anchor="ctr">
                    <a:lnL cap="flat" cmpd="sng" w="12700">
                      <a:solidFill>
                        <a:srgbClr val="000000"/>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93.20%</a:t>
                      </a:r>
                      <a:endParaRPr sz="1500" u="none" cap="none" strike="noStrike">
                        <a:latin typeface="Century"/>
                        <a:ea typeface="Century"/>
                        <a:cs typeface="Century"/>
                        <a:sym typeface="Century"/>
                      </a:endParaRPr>
                    </a:p>
                  </a:txBody>
                  <a:tcPr marT="0" marB="0" marR="20275" marL="202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825">
                <a:tc>
                  <a:txBody>
                    <a:bodyPr/>
                    <a:lstStyle/>
                    <a:p>
                      <a:pPr indent="0" lvl="0" marL="0" rtl="0" algn="l">
                        <a:spcBef>
                          <a:spcPts val="0"/>
                        </a:spcBef>
                        <a:spcAft>
                          <a:spcPts val="0"/>
                        </a:spcAft>
                        <a:buNone/>
                      </a:pPr>
                      <a:r>
                        <a:rPr b="0" lang="en-US" sz="1500">
                          <a:latin typeface="Century"/>
                          <a:ea typeface="Century"/>
                          <a:cs typeface="Century"/>
                          <a:sym typeface="Century"/>
                        </a:rPr>
                        <a:t>ResNet18</a:t>
                      </a:r>
                      <a:endParaRPr b="0" sz="1500">
                        <a:latin typeface="Century"/>
                        <a:ea typeface="Century"/>
                        <a:cs typeface="Century"/>
                        <a:sym typeface="Century"/>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dk2"/>
                    </a:solidFill>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97.10%</a:t>
                      </a:r>
                      <a:endParaRPr sz="1500" u="none" cap="none" strike="noStrike">
                        <a:latin typeface="Century"/>
                        <a:ea typeface="Century"/>
                        <a:cs typeface="Century"/>
                        <a:sym typeface="Century"/>
                      </a:endParaRPr>
                    </a:p>
                  </a:txBody>
                  <a:tcPr marT="0" marB="0" marR="20275" marL="20275" anchor="ctr">
                    <a:lnL cap="flat" cmpd="sng" w="12700">
                      <a:solidFill>
                        <a:srgbClr val="000000"/>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96.26%</a:t>
                      </a:r>
                      <a:endParaRPr sz="1500" u="none" cap="none" strike="noStrike">
                        <a:latin typeface="Century"/>
                        <a:ea typeface="Century"/>
                        <a:cs typeface="Century"/>
                        <a:sym typeface="Century"/>
                      </a:endParaRPr>
                    </a:p>
                  </a:txBody>
                  <a:tcPr marT="0" marB="0" marR="20275" marL="202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825">
                <a:tc>
                  <a:txBody>
                    <a:bodyPr/>
                    <a:lstStyle/>
                    <a:p>
                      <a:pPr indent="0" lvl="0" marL="0" rtl="0" algn="l">
                        <a:spcBef>
                          <a:spcPts val="0"/>
                        </a:spcBef>
                        <a:spcAft>
                          <a:spcPts val="0"/>
                        </a:spcAft>
                        <a:buNone/>
                      </a:pPr>
                      <a:r>
                        <a:rPr b="0" lang="en-US" sz="1500">
                          <a:latin typeface="Century"/>
                          <a:ea typeface="Century"/>
                          <a:cs typeface="Century"/>
                          <a:sym typeface="Century"/>
                        </a:rPr>
                        <a:t>VGG16</a:t>
                      </a:r>
                      <a:endParaRPr b="0" sz="1500">
                        <a:latin typeface="Century"/>
                        <a:ea typeface="Century"/>
                        <a:cs typeface="Century"/>
                        <a:sym typeface="Century"/>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dk2"/>
                    </a:solidFill>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97.30%</a:t>
                      </a:r>
                      <a:endParaRPr sz="1500" u="none" cap="none" strike="noStrike">
                        <a:latin typeface="Century"/>
                        <a:ea typeface="Century"/>
                        <a:cs typeface="Century"/>
                        <a:sym typeface="Century"/>
                      </a:endParaRPr>
                    </a:p>
                  </a:txBody>
                  <a:tcPr marT="0" marB="0" marR="20275" marL="20275" anchor="ctr">
                    <a:lnL cap="flat" cmpd="sng" w="12700">
                      <a:solidFill>
                        <a:srgbClr val="000000"/>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96.60%</a:t>
                      </a:r>
                      <a:endParaRPr sz="1500" u="none" cap="none" strike="noStrike">
                        <a:latin typeface="Century"/>
                        <a:ea typeface="Century"/>
                        <a:cs typeface="Century"/>
                        <a:sym typeface="Century"/>
                      </a:endParaRPr>
                    </a:p>
                  </a:txBody>
                  <a:tcPr marT="0" marB="0" marR="20275" marL="202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8825">
                <a:tc>
                  <a:txBody>
                    <a:bodyPr/>
                    <a:lstStyle/>
                    <a:p>
                      <a:pPr indent="0" lvl="0" marL="0" rtl="0" algn="l">
                        <a:spcBef>
                          <a:spcPts val="0"/>
                        </a:spcBef>
                        <a:spcAft>
                          <a:spcPts val="0"/>
                        </a:spcAft>
                        <a:buNone/>
                      </a:pPr>
                      <a:r>
                        <a:rPr b="0" lang="en-US" sz="1500">
                          <a:latin typeface="Century"/>
                          <a:ea typeface="Century"/>
                          <a:cs typeface="Century"/>
                          <a:sym typeface="Century"/>
                        </a:rPr>
                        <a:t>Ensemble (ResNet18+VGG16)</a:t>
                      </a:r>
                      <a:endParaRPr b="0" sz="1500">
                        <a:latin typeface="Century"/>
                        <a:ea typeface="Century"/>
                        <a:cs typeface="Century"/>
                        <a:sym typeface="Century"/>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dk2"/>
                    </a:solidFill>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98.64%</a:t>
                      </a:r>
                      <a:endParaRPr sz="1500" u="none" cap="none" strike="noStrike">
                        <a:latin typeface="Century"/>
                        <a:ea typeface="Century"/>
                        <a:cs typeface="Century"/>
                        <a:sym typeface="Century"/>
                      </a:endParaRPr>
                    </a:p>
                  </a:txBody>
                  <a:tcPr marT="0" marB="0" marR="20275" marL="20275" anchor="ctr">
                    <a:lnL cap="flat" cmpd="sng" w="12700">
                      <a:solidFill>
                        <a:srgbClr val="000000"/>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64135" marR="18415" rtl="0" algn="ctr">
                        <a:lnSpc>
                          <a:spcPct val="150000"/>
                        </a:lnSpc>
                        <a:spcBef>
                          <a:spcPts val="0"/>
                        </a:spcBef>
                        <a:spcAft>
                          <a:spcPts val="0"/>
                        </a:spcAft>
                        <a:buNone/>
                      </a:pPr>
                      <a:r>
                        <a:rPr lang="en-US" sz="1500">
                          <a:latin typeface="Century"/>
                          <a:ea typeface="Century"/>
                          <a:cs typeface="Century"/>
                          <a:sym typeface="Century"/>
                        </a:rPr>
                        <a:t>99.49%</a:t>
                      </a:r>
                      <a:endParaRPr sz="1500" u="none" cap="none" strike="noStrike">
                        <a:latin typeface="Century"/>
                        <a:ea typeface="Century"/>
                        <a:cs typeface="Century"/>
                        <a:sym typeface="Century"/>
                      </a:endParaRPr>
                    </a:p>
                  </a:txBody>
                  <a:tcPr marT="0" marB="0" marR="20275" marL="202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282" name="Google Shape;282;p8"/>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9"/>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Novelty of the Work</a:t>
            </a:r>
            <a:endParaRPr/>
          </a:p>
        </p:txBody>
      </p:sp>
      <p:sp>
        <p:nvSpPr>
          <p:cNvPr id="288" name="Google Shape;288;p9"/>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p>
            <a:pPr indent="-393700" lvl="0" marL="457200" rtl="0" algn="l">
              <a:lnSpc>
                <a:spcPct val="150000"/>
              </a:lnSpc>
              <a:spcBef>
                <a:spcPts val="0"/>
              </a:spcBef>
              <a:spcAft>
                <a:spcPts val="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Hybrid ensemble model surpasses single CNNs.</a:t>
            </a:r>
            <a:endParaRPr sz="2600">
              <a:solidFill>
                <a:schemeClr val="dk1"/>
              </a:solidFill>
              <a:latin typeface="Times New Roman"/>
              <a:ea typeface="Times New Roman"/>
              <a:cs typeface="Times New Roman"/>
              <a:sym typeface="Times New Roman"/>
            </a:endParaRPr>
          </a:p>
          <a:p>
            <a:pPr indent="-393700" lvl="0" marL="457200" rtl="0" algn="l">
              <a:lnSpc>
                <a:spcPct val="150000"/>
              </a:lnSpc>
              <a:spcBef>
                <a:spcPts val="1000"/>
              </a:spcBef>
              <a:spcAft>
                <a:spcPts val="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Strong preprocessing and augmentation tailored to PBS images.</a:t>
            </a:r>
            <a:endParaRPr sz="2600">
              <a:solidFill>
                <a:schemeClr val="dk1"/>
              </a:solidFill>
              <a:latin typeface="Times New Roman"/>
              <a:ea typeface="Times New Roman"/>
              <a:cs typeface="Times New Roman"/>
              <a:sym typeface="Times New Roman"/>
            </a:endParaRPr>
          </a:p>
          <a:p>
            <a:pPr indent="-393700" lvl="0" marL="457200" rtl="0" algn="l">
              <a:lnSpc>
                <a:spcPct val="150000"/>
              </a:lnSpc>
              <a:spcBef>
                <a:spcPts val="1000"/>
              </a:spcBef>
              <a:spcAft>
                <a:spcPts val="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Built-in explainability using saliency visualization.</a:t>
            </a:r>
            <a:endParaRPr sz="2600">
              <a:solidFill>
                <a:schemeClr val="dk1"/>
              </a:solidFill>
              <a:latin typeface="Times New Roman"/>
              <a:ea typeface="Times New Roman"/>
              <a:cs typeface="Times New Roman"/>
              <a:sym typeface="Times New Roman"/>
            </a:endParaRPr>
          </a:p>
          <a:p>
            <a:pPr indent="-393700" lvl="0" marL="457200" rtl="0" algn="l">
              <a:lnSpc>
                <a:spcPct val="150000"/>
              </a:lnSpc>
              <a:spcBef>
                <a:spcPts val="1000"/>
              </a:spcBef>
              <a:spcAft>
                <a:spcPts val="1000"/>
              </a:spcAft>
              <a:buClr>
                <a:schemeClr val="dk1"/>
              </a:buClr>
              <a:buSzPts val="2600"/>
              <a:buFont typeface="Times New Roman"/>
              <a:buChar char="➢"/>
            </a:pPr>
            <a:r>
              <a:rPr lang="en-US" sz="2600">
                <a:solidFill>
                  <a:schemeClr val="dk1"/>
                </a:solidFill>
                <a:latin typeface="Times New Roman"/>
                <a:ea typeface="Times New Roman"/>
                <a:cs typeface="Times New Roman"/>
                <a:sym typeface="Times New Roman"/>
              </a:rPr>
              <a:t>High accuracy achieved despite limited, imbalanced data.</a:t>
            </a:r>
            <a:endParaRPr sz="2600">
              <a:solidFill>
                <a:schemeClr val="dk1"/>
              </a:solidFill>
              <a:latin typeface="Times New Roman"/>
              <a:ea typeface="Times New Roman"/>
              <a:cs typeface="Times New Roman"/>
              <a:sym typeface="Times New Roman"/>
            </a:endParaRPr>
          </a:p>
        </p:txBody>
      </p:sp>
      <p:sp>
        <p:nvSpPr>
          <p:cNvPr id="289" name="Google Shape;289;p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90" name="Google Shape;290;p9"/>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0"/>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Conclusion</a:t>
            </a:r>
            <a:endParaRPr>
              <a:solidFill>
                <a:srgbClr val="7030A0"/>
              </a:solidFill>
            </a:endParaRPr>
          </a:p>
        </p:txBody>
      </p:sp>
      <p:sp>
        <p:nvSpPr>
          <p:cNvPr id="296" name="Google Shape;296;p10"/>
          <p:cNvSpPr txBox="1"/>
          <p:nvPr>
            <p:ph idx="1" type="body"/>
          </p:nvPr>
        </p:nvSpPr>
        <p:spPr>
          <a:xfrm>
            <a:off x="533400" y="1676400"/>
            <a:ext cx="11049000" cy="39624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100"/>
              <a:buNone/>
            </a:pPr>
            <a:r>
              <a:rPr lang="en-US" sz="2600">
                <a:solidFill>
                  <a:schemeClr val="dk1"/>
                </a:solidFill>
                <a:latin typeface="Times New Roman"/>
                <a:ea typeface="Times New Roman"/>
                <a:cs typeface="Times New Roman"/>
                <a:sym typeface="Times New Roman"/>
              </a:rPr>
              <a:t>The proposed ensemble deep learning model successfully classifies four leukemia stages with high accuracy and strong generalization. Rigorous preprocessing, balanced training, and explainable visualization improved both performance and clinical reliability. Overall, the system demonstrates a practical, robust, and interpretable AI solution for leukemia stage detection from PBS images.</a:t>
            </a:r>
            <a:endParaRPr sz="2600">
              <a:solidFill>
                <a:schemeClr val="dk1"/>
              </a:solidFill>
              <a:latin typeface="Times New Roman"/>
              <a:ea typeface="Times New Roman"/>
              <a:cs typeface="Times New Roman"/>
              <a:sym typeface="Times New Roman"/>
            </a:endParaRPr>
          </a:p>
        </p:txBody>
      </p:sp>
      <p:sp>
        <p:nvSpPr>
          <p:cNvPr id="297" name="Google Shape;297;p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98" name="Google Shape;298;p10"/>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1"/>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References</a:t>
            </a:r>
            <a:endParaRPr>
              <a:solidFill>
                <a:srgbClr val="7030A0"/>
              </a:solidFill>
            </a:endParaRPr>
          </a:p>
        </p:txBody>
      </p:sp>
      <p:sp>
        <p:nvSpPr>
          <p:cNvPr id="304" name="Google Shape;304;p11"/>
          <p:cNvSpPr txBox="1"/>
          <p:nvPr>
            <p:ph idx="1" type="body"/>
          </p:nvPr>
        </p:nvSpPr>
        <p:spPr>
          <a:xfrm>
            <a:off x="533400" y="1676400"/>
            <a:ext cx="11049000" cy="3962400"/>
          </a:xfrm>
          <a:prstGeom prst="rect">
            <a:avLst/>
          </a:prstGeom>
          <a:noFill/>
          <a:ln>
            <a:noFill/>
          </a:ln>
        </p:spPr>
        <p:txBody>
          <a:bodyPr anchorCtr="0" anchor="t" bIns="45700" lIns="91425" spcFirstLastPara="1" rIns="91425" wrap="square" tIns="45700">
            <a:noAutofit/>
          </a:bodyPr>
          <a:lstStyle/>
          <a:p>
            <a:pPr indent="-374650" lvl="0" marL="457200" rtl="0" algn="just">
              <a:lnSpc>
                <a:spcPct val="115000"/>
              </a:lnSpc>
              <a:spcBef>
                <a:spcPts val="0"/>
              </a:spcBef>
              <a:spcAft>
                <a:spcPts val="0"/>
              </a:spcAft>
              <a:buClr>
                <a:srgbClr val="222222"/>
              </a:buClr>
              <a:buSzPts val="2300"/>
              <a:buFont typeface="Times New Roman"/>
              <a:buChar char="•"/>
            </a:pPr>
            <a:r>
              <a:rPr lang="en-US" sz="1800">
                <a:solidFill>
                  <a:schemeClr val="dk1"/>
                </a:solidFill>
                <a:latin typeface="Century"/>
                <a:ea typeface="Century"/>
                <a:cs typeface="Century"/>
                <a:sym typeface="Century"/>
              </a:rPr>
              <a:t>[1] A. Karim, A. Azhari, M. Shahroz, S. Brahim Belhaouri, and K. Mustofa, “Ldsvm: Leukemia cancer classification using machine learning,” 2022. </a:t>
            </a:r>
            <a:endParaRPr sz="1800">
              <a:solidFill>
                <a:schemeClr val="dk1"/>
              </a:solidFill>
              <a:latin typeface="Century"/>
              <a:ea typeface="Century"/>
              <a:cs typeface="Century"/>
              <a:sym typeface="Century"/>
            </a:endParaRPr>
          </a:p>
          <a:p>
            <a:pPr indent="-374650" lvl="0" marL="457200" rtl="0" algn="just">
              <a:lnSpc>
                <a:spcPct val="115000"/>
              </a:lnSpc>
              <a:spcBef>
                <a:spcPts val="0"/>
              </a:spcBef>
              <a:spcAft>
                <a:spcPts val="0"/>
              </a:spcAft>
              <a:buClr>
                <a:srgbClr val="222222"/>
              </a:buClr>
              <a:buSzPts val="2300"/>
              <a:buFont typeface="Times New Roman"/>
              <a:buChar char="•"/>
            </a:pPr>
            <a:r>
              <a:rPr lang="en-US" sz="1800">
                <a:solidFill>
                  <a:schemeClr val="dk1"/>
                </a:solidFill>
                <a:latin typeface="Century"/>
                <a:ea typeface="Century"/>
                <a:cs typeface="Century"/>
                <a:sym typeface="Century"/>
              </a:rPr>
              <a:t>[2] K. Barua and P. Chakrabarti, “Detection and classification for blood cancer–a survey,” International Journal of Computer Trends and Tech nology, vol. 36, no. 2, pp. 65–70, 2024. </a:t>
            </a:r>
            <a:endParaRPr sz="1800">
              <a:solidFill>
                <a:schemeClr val="dk1"/>
              </a:solidFill>
              <a:latin typeface="Century"/>
              <a:ea typeface="Century"/>
              <a:cs typeface="Century"/>
              <a:sym typeface="Century"/>
            </a:endParaRPr>
          </a:p>
          <a:p>
            <a:pPr indent="-374650" lvl="0" marL="457200" rtl="0" algn="just">
              <a:lnSpc>
                <a:spcPct val="115000"/>
              </a:lnSpc>
              <a:spcBef>
                <a:spcPts val="0"/>
              </a:spcBef>
              <a:spcAft>
                <a:spcPts val="0"/>
              </a:spcAft>
              <a:buClr>
                <a:srgbClr val="222222"/>
              </a:buClr>
              <a:buSzPts val="2300"/>
              <a:buFont typeface="Times New Roman"/>
              <a:buChar char="•"/>
            </a:pPr>
            <a:r>
              <a:rPr lang="en-US" sz="1800">
                <a:solidFill>
                  <a:schemeClr val="dk1"/>
                </a:solidFill>
                <a:latin typeface="Century"/>
                <a:ea typeface="Century"/>
                <a:cs typeface="Century"/>
                <a:sym typeface="Century"/>
              </a:rPr>
              <a:t>[3] G. Atteia, R. Alnashwan, and M. Hassan, “Hybrid feature-learning-based pso-pca feature engineering approach for blood cancer classification,” Diagnostics, vol. 13, no. 16, p. 2672, 2023. </a:t>
            </a:r>
            <a:endParaRPr sz="1800">
              <a:solidFill>
                <a:schemeClr val="dk1"/>
              </a:solidFill>
              <a:latin typeface="Century"/>
              <a:ea typeface="Century"/>
              <a:cs typeface="Century"/>
              <a:sym typeface="Century"/>
            </a:endParaRPr>
          </a:p>
          <a:p>
            <a:pPr indent="-374650" lvl="0" marL="457200" rtl="0" algn="just">
              <a:lnSpc>
                <a:spcPct val="115000"/>
              </a:lnSpc>
              <a:spcBef>
                <a:spcPts val="0"/>
              </a:spcBef>
              <a:spcAft>
                <a:spcPts val="0"/>
              </a:spcAft>
              <a:buClr>
                <a:srgbClr val="222222"/>
              </a:buClr>
              <a:buSzPts val="2300"/>
              <a:buFont typeface="Times New Roman"/>
              <a:buChar char="•"/>
            </a:pPr>
            <a:r>
              <a:rPr lang="en-US" sz="1800">
                <a:solidFill>
                  <a:schemeClr val="dk1"/>
                </a:solidFill>
                <a:latin typeface="Century"/>
                <a:ea typeface="Century"/>
                <a:cs typeface="Century"/>
                <a:sym typeface="Century"/>
              </a:rPr>
              <a:t>[4] A. V. Ikechukwu and S. Murali, “i-net: a deep cnn model for white blood cancer segmentation and classification,” International Journal of Advanced Technology and Engineering Exploration, vol. 9, no. 95, pp. 1448–1464, 2022.</a:t>
            </a:r>
            <a:endParaRPr sz="1800">
              <a:solidFill>
                <a:schemeClr val="dk1"/>
              </a:solidFill>
              <a:latin typeface="Century"/>
              <a:ea typeface="Century"/>
              <a:cs typeface="Century"/>
              <a:sym typeface="Century"/>
            </a:endParaRPr>
          </a:p>
          <a:p>
            <a:pPr indent="-374650" lvl="0" marL="457200" rtl="0" algn="just">
              <a:lnSpc>
                <a:spcPct val="115000"/>
              </a:lnSpc>
              <a:spcBef>
                <a:spcPts val="0"/>
              </a:spcBef>
              <a:spcAft>
                <a:spcPts val="0"/>
              </a:spcAft>
              <a:buClr>
                <a:srgbClr val="222222"/>
              </a:buClr>
              <a:buSzPts val="2300"/>
              <a:buFont typeface="Times New Roman"/>
              <a:buChar char="•"/>
            </a:pPr>
            <a:r>
              <a:rPr lang="en-US" sz="1800">
                <a:solidFill>
                  <a:schemeClr val="dk1"/>
                </a:solidFill>
                <a:latin typeface="Century"/>
                <a:ea typeface="Century"/>
                <a:cs typeface="Century"/>
                <a:sym typeface="Century"/>
              </a:rPr>
              <a:t>[5] S. Paswan and Y. K. Rathore, “Detection and classification of blood cancer from microscopic cell images using svm knn and nn classifier,” Int. J. Adv. Res. Ideas Innov. Technol, vol. 3, pp. 315–324, 2022.</a:t>
            </a:r>
            <a:endParaRPr sz="2300">
              <a:solidFill>
                <a:srgbClr val="222222"/>
              </a:solidFill>
              <a:highlight>
                <a:srgbClr val="FFFFFF"/>
              </a:highlight>
              <a:latin typeface="Times New Roman"/>
              <a:ea typeface="Times New Roman"/>
              <a:cs typeface="Times New Roman"/>
              <a:sym typeface="Times New Roman"/>
            </a:endParaRPr>
          </a:p>
        </p:txBody>
      </p:sp>
      <p:sp>
        <p:nvSpPr>
          <p:cNvPr id="305" name="Google Shape;305;p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06" name="Google Shape;306;p11"/>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2"/>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366092"/>
              </a:buClr>
              <a:buSzPts val="6000"/>
              <a:buNone/>
            </a:pPr>
            <a:r>
              <a:t/>
            </a:r>
            <a:endParaRPr b="1" sz="6000">
              <a:solidFill>
                <a:srgbClr val="7030A0"/>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rgbClr val="7030A0"/>
              </a:buClr>
              <a:buSzPts val="6000"/>
              <a:buNone/>
            </a:pPr>
            <a:r>
              <a:rPr b="1" lang="en-US" sz="6000">
                <a:solidFill>
                  <a:srgbClr val="7030A0"/>
                </a:solidFill>
                <a:latin typeface="Times New Roman"/>
                <a:ea typeface="Times New Roman"/>
                <a:cs typeface="Times New Roman"/>
                <a:sym typeface="Times New Roman"/>
              </a:rPr>
              <a:t>THANK YOU</a:t>
            </a:r>
            <a:endParaRPr/>
          </a:p>
          <a:p>
            <a:pPr indent="0" lvl="0" marL="0" rtl="0" algn="r">
              <a:lnSpc>
                <a:spcPct val="100000"/>
              </a:lnSpc>
              <a:spcBef>
                <a:spcPts val="600"/>
              </a:spcBef>
              <a:spcAft>
                <a:spcPts val="0"/>
              </a:spcAft>
              <a:buClr>
                <a:srgbClr val="366092"/>
              </a:buClr>
              <a:buSzPts val="3000"/>
              <a:buNone/>
            </a:pPr>
            <a:r>
              <a:t/>
            </a:r>
            <a:endParaRPr sz="3000">
              <a:solidFill>
                <a:schemeClr val="dk1"/>
              </a:solidFill>
              <a:latin typeface="Times New Roman"/>
              <a:ea typeface="Times New Roman"/>
              <a:cs typeface="Times New Roman"/>
              <a:sym typeface="Times New Roman"/>
            </a:endParaRPr>
          </a:p>
        </p:txBody>
      </p:sp>
      <p:sp>
        <p:nvSpPr>
          <p:cNvPr id="312" name="Google Shape;312;p1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13" name="Google Shape;313;p12"/>
          <p:cNvPicPr preferRelativeResize="0"/>
          <p:nvPr/>
        </p:nvPicPr>
        <p:blipFill rotWithShape="1">
          <a:blip r:embed="rId3">
            <a:alphaModFix/>
          </a:blip>
          <a:srcRect b="0" l="0" r="0" t="0"/>
          <a:stretch/>
        </p:blipFill>
        <p:spPr>
          <a:xfrm>
            <a:off x="8915400" y="6383234"/>
            <a:ext cx="3276600" cy="39856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New Microsoft PowerPoint Presentatio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New Microsoft PowerPoint Presentatio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2011-07-17T02:56:35Z</dcterms:created>
  <dc:creator>Valued Acer Customer</dc:creator>
</cp:coreProperties>
</file>